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Chào các em. Hôm nay chúng ta nói về năng lượng sạch — nghe có vẻ to tát, nhưng thực ra rất gần gũi: là cái đèn trong phòng, cái quạt đang quay, cái điện thoại các em đang câm. Vấn đề là: cách chúng ta sản xuất điện hiện nay đang làm Trái Đất nóng lên. Bài này không có công thức khó, chỉ có 3 câu chuyện và 1 câu hỏi cuối: em sẽ làm gì?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Mở bài bằng ba ví dụ đời thường để học sinh liên hệ ngay. Đừng đọc đơn điệu: hãy hỏi nhanh "ai từng gặp cảnh 1? cảnh 2?" để lớp tương tác. Nâng cao: năng lượng không chỉ là điện — mà là xăng xe, ga nấu ăn, nhiên liệu bay. Câu hỏi cuối mở đường cho cả bài: chúng ta cần năng lượng, nhưng cần cách sản xuất sạch hơn.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Ba con số, ba cảm xúc: 75% là giật mình (chủ yếu do năng lượng), +1.1°C là lo lắng (Trái Đất sốt), 80% là vấn đề (vẫn phụ thuộc hóa thạch), và 692 GW là hy vọng (tái tạo tăng kỷ lục). Nhấn mạnh: con số cuối cùng cho thấy cuộc cách mạng đã bắt đầu — không phải chuyện tương lai xa. Hỏi học sinh: theo em, vì sao tái tạo lại tăng nhanh đến vậy? (Đáp án: giá rẻ mạnh, chính sách khuyến khích.)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Đọc nhanh năm chặng, nhấn mạnh chặng 5 là dành riêng cho học sinh — để các em chú ý lắng nghe. Giọng điệu vui: "Ba anh hùng" (mặt trời, gió, hydrogen) sẽ xuất hiện ở chặng 2. Hẹn cả lớp: hết bài, mỗi em phải nêu được một hành động nhỏ của mình.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Giải thích bằng ngôn ngữ đời thường: áp lực 1 giống như bị sốt, phải uống thuốc ngay; áp lực 2 giống như tiêu tiền để dành, hết là hết; áp lực 3 giống như tự trồng rau trong vườn thay vì đi chợ phụ thuộc. Tóm lại: không phải chọn sạch cho đẹp, mà là bắt buộc để an toàn và rẻ hơn về lâu dài.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Điểm nhấn: -90% giá chỉ trong 14 năm — nhanh hơn bất kỳ công nghệ năng lượng nào trong lịch sử. So sánh vui: giá điện thoại thông minh cũng giảm mạnh tương tự. Mặt trời thì miễn phí, con người chỉ trả tiền tấm pin và bộ chuyển đổi. Hỏi lớp: nhà em có pin mặt trời trên mái không? Vì sao ngày càng nhiều nhà lắp? (Đáp án: rẻ, tự chủ, bán điện lại cho công ty.)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So sánh vui: một tuabin 15 MW cấp điện cho ~15.000 hộ — bằng cả một thị trấn. Cánh quạt dài hơn cả sân bóng đá. Gió ngoài khơi thổi đều và mạnh hơn trên đất liền, nên phát điện ổn định 24/7. Việt Nam cũng có tiềm năng gió ngoài khơi rất lớn ở miền Trung — điểm tự hào cho học sinh.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Giải thích đơn giản: khi trời nắng và gió nhiều, điện thừa — ta dùng nó để tách nước thành hydrogen (H₂) và oxy. Hydrogen trữ lại, khi không nắng không gió thì đốt hydrogen để phát điện hoặc chạy nhà máy. Giống như chai pin khổng lồ. Nó giải quyết ~30% nhu cầu khó "điện khí hóa": làm thép, hóa chất, tàu biển lớn. Điểm cần nhớ: hydrogen "xanh" vì sản xuất bằng điện sạch — không phải tất cả hydrogen đều xanh.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Nhấn mạnh "lợi ích kép": không chỉ sạch mà còn rẻ và tạo nhiều việc. Con số 7 triệu tử vong/năm vì ô nhiễm không khí là số liệu gây ấn tượng — năng lượng sạch cứu người ngay cả khi chưa nói đến khí hậu. Lưới điện thông minh: ví dụ gần gũi — nhà em có pin mặt trời, ngày nắng phát điện thừa bán lại cho công ty, tối dùng điện lưới. Đó là năng lượng phân tán.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Ba mốc thời gian gắn với tuổi của học sinh: 2030 các em mới cấp 3, 2050 các em mới 30 tuổi — chính là thế hệ làm nên cuộc cách mạng này. Động lực: "Đây không phải chuyện của người khác — là chuyện của các em." Net Zero nghĩa là phát thải bằng lượng hấp thụ = cân bằng, không còn làm Trái Đất nóng thêm.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Đây là slide tương tác. Hãy dừng lại, hỏi cả lớp: "Em đã làm việc gì trong danh sách này? Còn việc gì nữa?" Ghi nhanh lên bảng. Nhấn mạnh: hành động nhỏ không đơn độc — nhiều người cùng làm sẽ thành cuộc cách mạng. Đừng gây cảm giác tội lỗi; thay vào đó là cảm giác mạnh mẽ: "Em là thế hệ quyết định."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Kết thúc bằng hình ảnh đầy cảm hứng và một câu khẳng định. Mở đầu phần hỏi đáp: "Các em có thắc mắc gì không?" Nếu còn thời gian, quay lại câu hỏi mở: so sánh năng lượng sạch và hóa thạch — em chọn cái nào, vì sao? Chúc mừng cả lớp đã hoàn thành bài.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b"/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83C2C9A-C13A-43AA-A125-1C08726D7D42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C76E9BB-5D2B-436C-8311-3E03B47C17CA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b"/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6C18A96-C6FB-4A65-B224-A52D34525167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E83C905-9DE9-4882-91BE-31267AA5B5A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b"/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b"/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0F71F33-262E-49C0-BF83-383D8240E713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A0FD053-D0A2-43E3-BEA2-CD631F296442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43E4295-21AB-4B71-AE31-7DF74D2B2469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b"/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44D2BFA-6F70-4D88-BCC4-1974C75AA7BA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b"/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03D9102-4FBB-4382-AF15-231BD80F723E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364D7B2-BD2E-40B7-92BE-BA0CBB9DF294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94CE6EA-F525-4A72-B53F-AA5342746C1E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t"/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8575" tIns="34275" rIns="68575" bIns="34275" anchor="ctr"/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B244AB6-7BB5-41B1-BADB-892BB1FDDFF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3" r="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F1C14">
                  <a:alpha val="15000"/>
                </a:srgbClr>
              </a:gs>
              <a:gs pos="55000">
                <a:srgbClr val="0F1C14">
                  <a:alpha val="50000"/>
                </a:srgbClr>
              </a:gs>
              <a:gs pos="100000">
                <a:srgbClr val="0A140E">
                  <a:alpha val="8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4" name="Connector 4"/>
          <p:cNvCxnSpPr/>
          <p:nvPr/>
        </p:nvCxnSpPr>
        <p:spPr>
          <a:xfrm rot="-47743">
            <a:off x="812844" y="45402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C8853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812800" y="40386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6EEE6"/>
                </a:solidFill>
                <a:latin typeface="Noto Sans SC"/>
                <a:ea typeface="Noto Sans SC"/>
                <a:cs typeface="Noto Sans SC"/>
                <a:sym typeface="Noto Sans SC"/>
              </a:rPr>
              <a:t>BÀI THUYẾT TRÌNH · LỚP 8A1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12800" y="4699000"/>
            <a:ext cx="10566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Năng lượng sạch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12800" y="5791200"/>
            <a:ext cx="10566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1EBE1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Thắp sáng tương lai — mà không làm Trái Đất bị “sốt”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12800" y="6477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8D2C8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Ảnh: Cánh đồng tuabin gió ngoài khơi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107394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 txBox="1"/>
          <p:nvPr/>
        </p:nvSpPr>
        <p:spPr>
          <a:xfrm>
            <a:off x="1320800" y="533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MỞ ĐẦU · TẠI SAO PHẢI NÓI VỀ NĂNG LƯỢNG?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" y="965200"/>
            <a:ext cx="10566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Ba khoảnh khắc bạn đã gặp năng lượng trong tuần này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12800" y="21590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905000" y="2184400"/>
            <a:ext cx="947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Điện mất giữa trận đấu / giữa lúc xem phim:</a:t>
            </a:r>
            <a:r>
              <a:rPr lang="en-US" sz="1700" b="0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điện là yếu tố không thể thiếu trong cuộc sống hiện đại.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131">
            <a:off x="812804" y="3117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812800" y="33274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905000" y="3352800"/>
            <a:ext cx="947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Bố mẹ than tiền điện tăng:</a:t>
            </a:r>
            <a:r>
              <a:rPr lang="en-US" sz="1700" b="0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vì điện phần lớn vẫn đốt than, khí, dầu — hóa thạch — ngày càng đắt và càng đốt càng bẩn.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131">
            <a:off x="812804" y="4286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812800" y="44958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905000" y="4521200"/>
            <a:ext cx="947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7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Ngày nắng nóng 40°C phải bật điều hòa cả ngày:</a:t>
            </a:r>
            <a:r>
              <a:rPr lang="en-US" sz="1700" b="0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Trái Đất đang nóng lên, và năng lượng bẩn là thủ phạm chính.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" y="5588000"/>
            <a:ext cx="10566400" cy="635000"/>
          </a:xfrm>
          <a:prstGeom prst="roundRect">
            <a:avLst>
              <a:gd name="adj" fmla="val 0"/>
            </a:avLst>
          </a:prstGeom>
          <a:solidFill>
            <a:srgbClr val="2F4A3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1016000" y="57150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→ Câu hỏi lớn: Làm sao có đủ điện mà không làm Trái Đất nóng lên thêm?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02 / 12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107394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 txBox="1"/>
          <p:nvPr/>
        </p:nvSpPr>
        <p:spPr>
          <a:xfrm>
            <a:off x="1320800" y="533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BỐI CẢNH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" y="965200"/>
            <a:ext cx="10566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Trái Đất đang nóng lên — năng lượng là thủ phạm chính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12800" y="2286000"/>
            <a:ext cx="533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8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75</a:t>
            </a:r>
            <a:r>
              <a:rPr lang="en-US" sz="118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12800" y="4064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khí thải nhà kính toàn cầu đến từ ngành năng lượng — trọng tâm của cuộc chiến khí hậu.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604000" y="2159000"/>
            <a:ext cx="477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+1,1°C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604000" y="27686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nhiệt độ toàn cầu so với thời kỳ tiền công nghiệp.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142">
            <a:off x="6604008" y="3244850"/>
            <a:ext cx="477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6604000" y="3403600"/>
            <a:ext cx="477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80%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6604000" y="40132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năng lượng vẫn từ than, dầu, khí — hóa thạch bẩn.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142">
            <a:off x="6604008" y="4489450"/>
            <a:ext cx="477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6604000" y="4648200"/>
            <a:ext cx="477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692 GW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6604000" y="5257800"/>
            <a:ext cx="4775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tái tạo mới năm 2025 — kỷ lục lịch sử (tin vui!).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12800" y="64516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IEA · IRENA 2025 · NASA GISS.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03 / 12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107394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 txBox="1"/>
          <p:nvPr/>
        </p:nvSpPr>
        <p:spPr>
          <a:xfrm>
            <a:off x="1320800" y="533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MỤC LỤC · NĂM CHẶNG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" y="965200"/>
            <a:ext cx="10566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Hành trình “năng lượng sạch” trong 5 chặng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12800" y="20828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778000" y="20574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Bối cảnh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778000" y="24130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Tại sao phải chuyển dịch năng lượng ngay hôm nay?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131">
            <a:off x="812804" y="2813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812800" y="29718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778000" y="29464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Công nghệ cốt lõi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778000" y="33020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Điện mặt trời · Điện gió · Hydrogen xanh — ba “anh hùng”.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131">
            <a:off x="812804" y="3702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812800" y="38608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778000" y="38354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Lợi ích kép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778000" y="41910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Kiếm được việc làm — lại còn hít không khí sạch.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131">
            <a:off x="812804" y="4591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12800" y="47498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778000" y="47244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Tầm nhìn 2050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778000" y="50800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Lộ trình Net Zero: 2030 → 2040 → 2050.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4131">
            <a:off x="812804" y="5480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 txBox="1"/>
          <p:nvPr/>
        </p:nvSpPr>
        <p:spPr>
          <a:xfrm>
            <a:off x="812800" y="56388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778000" y="56134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Hành động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778000" y="59690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Em — học sinh lớp 8 — có thể làm gì ngay hôm nay?</a:t>
            </a:r>
            <a:endParaRPr lang="en-US" sz="1100"/>
          </a:p>
        </p:txBody>
      </p:sp>
      <p:sp>
        <p:nvSpPr>
          <p:cNvPr id="25" name="AutoShape 25"/>
          <p:cNvSpPr txBox="1"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04 / 12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107394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 txBox="1"/>
          <p:nvPr/>
        </p:nvSpPr>
        <p:spPr>
          <a:xfrm>
            <a:off x="1320800" y="533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BỐI CẢNH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" y="965200"/>
            <a:ext cx="10566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Ba áp lực thúc đẩy chuyển dịch năng lượng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12800" y="21336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905000" y="2159000"/>
            <a:ext cx="947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Biến đổi khí hậu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905000" y="2540000"/>
            <a:ext cx="947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Trái Đất tăng thêm +1,1°C. Nóng lên → băng tan, biển dâng, bão lũ điên rồ hơn. Ngưỡng 1,5°C còn rất ít thời gian.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131">
            <a:off x="812804" y="3194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812800" y="33782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905000" y="3403600"/>
            <a:ext cx="947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Nhiên liệu hóa thạch hữu hạn — đốt là hết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905000" y="3784600"/>
            <a:ext cx="947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Than, dầu, khí cần hàng triệu năm để tạo ra — con người đốt hết trong vài thế hệ. Giá thì ngày càng leo thang.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131">
            <a:off x="812804" y="4438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812800" y="4622800"/>
            <a:ext cx="88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905000" y="4648200"/>
            <a:ext cx="9474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An ninh năng lượng = tự chủ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905000" y="5029200"/>
            <a:ext cx="947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Phụ thuộc nhập khẩu nhiên liệu = thiếu tự chủ, dễ bị gián đoạn. Năng lượng tái tạo có tại chỗ = an toàn, chủ động.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" y="5715000"/>
            <a:ext cx="10566400" cy="558800"/>
          </a:xfrm>
          <a:prstGeom prst="roundRect">
            <a:avLst>
              <a:gd name="adj" fmla="val 0"/>
            </a:avLst>
          </a:prstGeom>
          <a:solidFill>
            <a:srgbClr val="C8853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1016000" y="5816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84614"/>
                </a:solidFill>
                <a:latin typeface="Noto Sans SC"/>
                <a:ea typeface="Noto Sans SC"/>
                <a:cs typeface="Noto Sans SC"/>
                <a:sym typeface="Noto Sans SC"/>
              </a:rPr>
              <a:t>→ Cả ba đều chỉ về một hướng: phải chuyển sang năng lượng sạch — càng sớm càng tốt.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12800" y="64516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IPCC AR6 · IEA World Energy Outlook.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05 / 12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107394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 txBox="1"/>
          <p:nvPr/>
        </p:nvSpPr>
        <p:spPr>
          <a:xfrm>
            <a:off x="1320800" y="533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CÔNG NGHỆ CỐT LÕI · ĐIỆN MẶT TRỜI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" y="965200"/>
            <a:ext cx="10566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Điện mặt trời: giá rẻ kỷ lục, tăng trưởng nhanh nhất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66" r="66"/>
          <a:stretch>
            <a:fillRect/>
          </a:stretch>
        </p:blipFill>
        <p:spPr>
          <a:xfrm>
            <a:off x="812800" y="2159000"/>
            <a:ext cx="5080000" cy="381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812800" y="6045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Cánh đồng pin mặt trời — quy mô công viên GW.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2159000"/>
            <a:ext cx="5029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−90</a:t>
            </a:r>
            <a:r>
              <a:rPr lang="en-US" sz="72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350000" y="3327400"/>
            <a:ext cx="5029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giá điện mặt trời 2010 → 2024 — giờ rẻ hơn than &amp; khí ở hầu hết nơi.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681">
            <a:off x="6350008" y="40068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6350000" y="4165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1.500+ GW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763000" y="4191000"/>
            <a:ext cx="261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đã lắp đặt toàn cầu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8681">
            <a:off x="6350008" y="45910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6350000" y="47498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Mỗi ngày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763000" y="4775200"/>
            <a:ext cx="261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thêm ~1 công viên mặt trời lớn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681">
            <a:off x="6350008" y="51752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 txBox="1"/>
          <p:nvPr/>
        </p:nvSpPr>
        <p:spPr>
          <a:xfrm>
            <a:off x="6350000" y="5334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Phủ sóng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763000" y="5359400"/>
            <a:ext cx="2616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từ mái nhà em đến nhà máy điện khổng lồ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12800" y="64516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IRENA Renewable Cost Database · IEA.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06 / 12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107394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 txBox="1"/>
          <p:nvPr/>
        </p:nvSpPr>
        <p:spPr>
          <a:xfrm>
            <a:off x="1320800" y="533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CÔNG NGHỆ CỐT LÕI · ĐIỆN GIÓ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" y="965200"/>
            <a:ext cx="10566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Điện gió: nguồn năng lượng ổn định, hiệu quả cao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62" r="62"/>
          <a:stretch>
            <a:fillRect/>
          </a:stretch>
        </p:blipFill>
        <p:spPr>
          <a:xfrm>
            <a:off x="812800" y="2159000"/>
            <a:ext cx="5080000" cy="339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812800" y="56388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Tuabin gió ngoài khơi — phát điện ổn định 24/7.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2159000"/>
            <a:ext cx="5029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18 </a:t>
            </a:r>
            <a:r>
              <a:rPr lang="en-US" sz="60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MW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350000" y="30734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công suất một tuabin hiện đại (2025) — cao gấp 3 lần mười năm trước.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681">
            <a:off x="6350008" y="37020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6350000" y="38608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1.000+ GW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8763000" y="3886200"/>
            <a:ext cx="261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công suất gió toàn cầu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8681">
            <a:off x="6350008" y="42862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6350000" y="4445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~15.000 hộ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763000" y="4470400"/>
            <a:ext cx="261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được cấp điện bởi 1 tuabin 15 MW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681">
            <a:off x="6350008" y="48704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 txBox="1"/>
          <p:nvPr/>
        </p:nvSpPr>
        <p:spPr>
          <a:xfrm>
            <a:off x="6350000" y="50292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×4 đến 2030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763000" y="5054600"/>
            <a:ext cx="2616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thị trường gió ngoài khơi mỗi năm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12800" y="64516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IEA Renewables 2025 · GWEC.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07 / 12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107394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 txBox="1"/>
          <p:nvPr/>
        </p:nvSpPr>
        <p:spPr>
          <a:xfrm>
            <a:off x="1320800" y="533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CÔNG NGHỆ CỐT LÕI · HYDROGEN XANH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" y="965200"/>
            <a:ext cx="10566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Hydrogen xanh: giải pháp cho ngành khó khử cacbon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62" r="62"/>
          <a:stretch>
            <a:fillRect/>
          </a:stretch>
        </p:blipFill>
        <p:spPr>
          <a:xfrm>
            <a:off x="812800" y="2159000"/>
            <a:ext cx="5080000" cy="339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 txBox="1"/>
          <p:nvPr/>
        </p:nvSpPr>
        <p:spPr>
          <a:xfrm>
            <a:off x="812800" y="56388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Trạm điện phân hydrogen xanh — chạy bằng điện tái tạo, chỉ thải oxy và nước.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350000" y="2159000"/>
            <a:ext cx="5029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 </a:t>
            </a:r>
            <a:r>
              <a:rPr lang="en-US" sz="52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g CO₂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350000" y="2946400"/>
            <a:ext cx="50292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phát thải tại điểm sử dụng — chỉ thải ra oxy và nước.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681">
            <a:off x="6350008" y="3473450"/>
            <a:ext cx="502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350000" y="3632200"/>
            <a:ext cx="5029200" cy="431800"/>
          </a:xfrm>
          <a:prstGeom prst="roundRect">
            <a:avLst>
              <a:gd name="adj" fmla="val 0"/>
            </a:avLst>
          </a:prstGeom>
          <a:solidFill>
            <a:srgbClr val="2F4A3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6502400" y="3708400"/>
            <a:ext cx="472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1. Điện tái tạo (mặt trời, gió)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4140200"/>
            <a:ext cx="5029200" cy="431800"/>
          </a:xfrm>
          <a:prstGeom prst="roundRect">
            <a:avLst>
              <a:gd name="adj" fmla="val 0"/>
            </a:avLst>
          </a:prstGeom>
          <a:solidFill>
            <a:srgbClr val="2F4A3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6502400" y="4216400"/>
            <a:ext cx="472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2. Điện phân nước (H₂O → H₂ + O₂)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648200"/>
            <a:ext cx="5029200" cy="431800"/>
          </a:xfrm>
          <a:prstGeom prst="roundRect">
            <a:avLst>
              <a:gd name="adj" fmla="val 0"/>
            </a:avLst>
          </a:prstGeom>
          <a:solidFill>
            <a:srgbClr val="C8853A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6502400" y="4724400"/>
            <a:ext cx="472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784614"/>
                </a:solidFill>
                <a:latin typeface="Noto Sans SC"/>
                <a:ea typeface="Noto Sans SC"/>
                <a:cs typeface="Noto Sans SC"/>
                <a:sym typeface="Noto Sans SC"/>
              </a:rPr>
              <a:t>3. Hydrogen xanh (H₂) — trữ năng lượng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5156200"/>
            <a:ext cx="5029200" cy="431800"/>
          </a:xfrm>
          <a:prstGeom prst="roundRect">
            <a:avLst>
              <a:gd name="adj" fmla="val 0"/>
            </a:avLst>
          </a:prstGeom>
          <a:solidFill>
            <a:srgbClr val="2F4A3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6502400" y="5232400"/>
            <a:ext cx="4724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4. Dùng cho thép, hóa chất, hàng hải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12800" y="64516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IEA Global Hydrogen Review · Hydrogen Council.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08 / 12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107394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 txBox="1"/>
          <p:nvPr/>
        </p:nvSpPr>
        <p:spPr>
          <a:xfrm>
            <a:off x="1320800" y="533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LỢI ÍCH KÉP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" y="965200"/>
            <a:ext cx="10566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Lợi ích kép: tăng trưởng kinh tế và hồi phục môi trường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12800" y="21082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16,6 triệu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12800" y="2692400"/>
            <a:ext cx="558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việc làm ngành tái tạo toàn cầu (2024)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7884">
            <a:off x="812807" y="3092450"/>
            <a:ext cx="553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812800" y="32512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90%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812800" y="3835400"/>
            <a:ext cx="558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thị trường có điện tái tạo rẻ hơn hóa thạch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7884">
            <a:off x="812807" y="4235450"/>
            <a:ext cx="553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812800" y="43942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~90%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12800" y="4978400"/>
            <a:ext cx="558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điện từ tái tạo vào năm 2050 (kịch bản Net Zero)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7884">
            <a:off x="812807" y="5378450"/>
            <a:ext cx="553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812800" y="55372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7 triệu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12800" y="6121400"/>
            <a:ext cx="558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04E48"/>
                </a:solidFill>
                <a:latin typeface="Noto Sans SC"/>
                <a:ea typeface="Noto Sans SC"/>
                <a:cs typeface="Noto Sans SC"/>
                <a:sym typeface="Noto Sans SC"/>
              </a:rPr>
              <a:t>tử vong sớm vì ô nhiễm không khí — cắt giảm được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"/>
          <a:srcRect t="5" b="5"/>
          <a:stretch>
            <a:fillRect/>
          </a:stretch>
        </p:blipFill>
        <p:spPr>
          <a:xfrm>
            <a:off x="6858000" y="2159000"/>
            <a:ext cx="4521200" cy="2463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 txBox="1"/>
          <p:nvPr/>
        </p:nvSpPr>
        <p:spPr>
          <a:xfrm>
            <a:off x="6858000" y="4724400"/>
            <a:ext cx="4521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Lưới điện thông minh</a:t>
            </a:r>
            <a:r>
              <a:rPr lang="en-US" sz="1300" b="0" i="0" u="none" strike="noStrike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 là nền tảng: cân bằng cung-cầu, tích hợp nguồn phát thay đổi, mở đường cho năng lượng phân tán — như pin mặt trời trên mái nhà em.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12800" y="64516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IRENA/ILO 2026 · IEA Net Zero 2050 · WHO.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09 / 12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107394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 txBox="1"/>
          <p:nvPr/>
        </p:nvSpPr>
        <p:spPr>
          <a:xfrm>
            <a:off x="1320800" y="533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04 · TẦM NHÌN 2050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" y="965200"/>
            <a:ext cx="10566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Lộ trình Net Zero: 2030 → 2040 → 2050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12800" y="2159000"/>
            <a:ext cx="1651000" cy="1143000"/>
          </a:xfrm>
          <a:prstGeom prst="roundRect">
            <a:avLst>
              <a:gd name="adj" fmla="val 0"/>
            </a:avLst>
          </a:prstGeom>
          <a:solidFill>
            <a:srgbClr val="2F4A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812800" y="2413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2030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2717800" y="2235200"/>
            <a:ext cx="866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5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Tăng tốc gấp 4:</a:t>
            </a:r>
            <a:r>
              <a:rPr lang="en-US" sz="1500" b="0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lắp 630 GW mặt trời + 390 GW gió mỗi năm. Tái tạo chiếm hơn 50% sản lượng điện.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3556000"/>
            <a:ext cx="1651000" cy="1143000"/>
          </a:xfrm>
          <a:prstGeom prst="roundRect">
            <a:avLst>
              <a:gd name="adj" fmla="val 0"/>
            </a:avLst>
          </a:prstGeom>
          <a:solidFill>
            <a:srgbClr val="C8853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812800" y="3810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2040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2717800" y="3632200"/>
            <a:ext cx="866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500" b="1" i="0" u="none" strike="noStrike">
                <a:solidFill>
                  <a:srgbClr val="784614"/>
                </a:solidFill>
                <a:latin typeface="Noto Sans SC"/>
                <a:ea typeface="Noto Sans SC"/>
                <a:cs typeface="Noto Sans SC"/>
                <a:sym typeface="Noto Sans SC"/>
              </a:rPr>
              <a:t>Hệ thống tái cấu trúc:</a:t>
            </a:r>
            <a:r>
              <a:rPr lang="en-US" sz="1500" b="0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than dần biến mất trên toàn cầu. Pin lưu trữ và lưới thông minh bao phủ, giải quyết chuyện "không nắng không gió".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" y="4953000"/>
            <a:ext cx="1651000" cy="1143000"/>
          </a:xfrm>
          <a:prstGeom prst="roundRect">
            <a:avLst>
              <a:gd name="adj" fmla="val 0"/>
            </a:avLst>
          </a:prstGeom>
          <a:solidFill>
            <a:srgbClr val="2F4A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812800" y="5207000"/>
            <a:ext cx="165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2050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717800" y="5029200"/>
            <a:ext cx="8661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5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Net Zero toàn cầu:</a:t>
            </a:r>
            <a:r>
              <a:rPr lang="en-US" sz="1500" b="0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 ~90% điện từ tái tạo; gió + mặt trời chiếm ~70%; hydrogen xử lý phần còn lại.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12800" y="64516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Nguồn: IEA — Net Zero by 2050.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10 / 12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107394">
            <a:off x="812899" y="6286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F4A3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 txBox="1"/>
          <p:nvPr/>
        </p:nvSpPr>
        <p:spPr>
          <a:xfrm>
            <a:off x="1320800" y="533400"/>
            <a:ext cx="762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05 · HÀNH ĐỘNG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" y="965200"/>
            <a:ext cx="10566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700" b="1" i="0" u="none" strike="noStrike">
                <a:solidFill>
                  <a:srgbClr val="1E1E1C"/>
                </a:solidFill>
                <a:latin typeface="Noto Sans SC"/>
                <a:ea typeface="Noto Sans SC"/>
                <a:cs typeface="Noto Sans SC"/>
                <a:sym typeface="Noto Sans SC"/>
              </a:rPr>
              <a:t>Hành động: mỗi bên đều có trách nhiệm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771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4A3B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12800" y="2108200"/>
            <a:ext cx="584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5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Chính sách:</a:t>
            </a:r>
            <a:r>
              <a:rPr lang="en-US" sz="15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 đặt giá carbon, bỏ trợ cấp hóa thạch.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12800" y="2489200"/>
            <a:ext cx="584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500" b="1" i="0" u="none" strike="noStrike">
                <a:solidFill>
                  <a:srgbClr val="C8853A"/>
                </a:solidFill>
                <a:latin typeface="Noto Sans SC"/>
                <a:ea typeface="Noto Sans SC"/>
                <a:cs typeface="Noto Sans SC"/>
                <a:sym typeface="Noto Sans SC"/>
              </a:rPr>
              <a:t>Doanh nghiệp:</a:t>
            </a:r>
            <a:r>
              <a:rPr lang="en-US" sz="1500" b="1" i="0" u="none" strike="noStrike">
                <a:solidFill>
                  <a:srgbClr val="2F4A3B"/>
                </a:solidFill>
                <a:latin typeface="Noto Sans SC"/>
                <a:ea typeface="Noto Sans SC"/>
                <a:cs typeface="Noto Sans SC"/>
                <a:sym typeface="Noto Sans SC"/>
              </a:rPr>
              <a:t> mua điện tái tạo, tiết kiệm năng lượng.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3048000"/>
            <a:ext cx="5842000" cy="2794000"/>
          </a:xfrm>
          <a:prstGeom prst="roundRect">
            <a:avLst>
              <a:gd name="adj" fmla="val 0"/>
            </a:avLst>
          </a:prstGeom>
          <a:solidFill>
            <a:srgbClr val="C8853A">
              <a:alpha val="1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1016000" y="3200400"/>
            <a:ext cx="5435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84614"/>
                </a:solidFill>
                <a:latin typeface="Noto Sans SC"/>
                <a:ea typeface="Noto Sans SC"/>
                <a:cs typeface="Noto Sans SC"/>
                <a:sym typeface="Noto Sans SC"/>
              </a:rPr>
              <a:t>Học sinh có thể làm ngay hôm nay: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16000" y="3632200"/>
            <a:ext cx="54356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33000"/>
              </a:lnSpc>
              <a:buClr>
                <a:srgbClr val="50370F"/>
              </a:buClr>
              <a:buChar char="•"/>
              <a:defRPr/>
            </a:pPr>
            <a:r>
              <a:rPr lang="en-US" sz="1400" b="0" i="0" u="none" strike="noStrike">
                <a:solidFill>
                  <a:srgbClr val="50370F"/>
                </a:solidFill>
                <a:latin typeface="Noto Sans SC"/>
                <a:ea typeface="Noto Sans SC"/>
                <a:cs typeface="Noto Sans SC"/>
                <a:sym typeface="Noto Sans SC"/>
              </a:rPr>
              <a:t>Tắt đèn, quạt, điều hòa khi ra khỏi phòng — không mất gì cả.</a:t>
            </a:r>
            <a:endParaRPr lang="en-US" sz="1100"/>
          </a:p>
          <a:p>
            <a:pPr marL="177800" indent="-177800" algn="l">
              <a:lnSpc>
                <a:spcPct val="133000"/>
              </a:lnSpc>
              <a:buClr>
                <a:srgbClr val="50370F"/>
              </a:buClr>
              <a:buChar char="•"/>
            </a:pPr>
            <a:r>
              <a:rPr lang="en-US" sz="1400" b="0" i="0" u="none" strike="noStrike">
                <a:solidFill>
                  <a:srgbClr val="50370F"/>
                </a:solidFill>
                <a:latin typeface="Noto Sans SC"/>
                <a:ea typeface="Noto Sans SC"/>
                <a:cs typeface="Noto Sans SC"/>
                <a:sym typeface="Noto Sans SC"/>
              </a:rPr>
              <a:t>Đi xe đạp, xe buýt hoặc đi bộ khi gần — vừa khỏe vừa sạch.</a:t>
            </a:r>
            <a:endParaRPr lang="en-US" sz="1400" b="0" i="0" u="none" strike="noStrike">
              <a:solidFill>
                <a:srgbClr val="50370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33000"/>
              </a:lnSpc>
              <a:buClr>
                <a:srgbClr val="50370F"/>
              </a:buClr>
              <a:buChar char="•"/>
            </a:pPr>
            <a:r>
              <a:rPr lang="en-US" sz="1400" b="0" i="0" u="none" strike="noStrike">
                <a:solidFill>
                  <a:srgbClr val="50370F"/>
                </a:solidFill>
                <a:latin typeface="Noto Sans SC"/>
                <a:ea typeface="Noto Sans SC"/>
                <a:cs typeface="Noto Sans SC"/>
                <a:sym typeface="Noto Sans SC"/>
              </a:rPr>
              <a:t>Tiết kiệm nước (máy bơm cũng tiêu thụ điện).</a:t>
            </a:r>
            <a:endParaRPr lang="en-US" sz="1400" b="0" i="0" u="none" strike="noStrike">
              <a:solidFill>
                <a:srgbClr val="50370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33000"/>
              </a:lnSpc>
              <a:buClr>
                <a:srgbClr val="50370F"/>
              </a:buClr>
              <a:buChar char="•"/>
            </a:pPr>
            <a:r>
              <a:rPr lang="en-US" sz="1400" b="0" i="0" u="none" strike="noStrike">
                <a:solidFill>
                  <a:srgbClr val="50370F"/>
                </a:solidFill>
                <a:latin typeface="Noto Sans SC"/>
                <a:ea typeface="Noto Sans SC"/>
                <a:cs typeface="Noto Sans SC"/>
                <a:sym typeface="Noto Sans SC"/>
              </a:rPr>
              <a:t>Nhắc người thân: chọn đèn LED, hạn chế rác nhựa.</a:t>
            </a:r>
            <a:endParaRPr lang="en-US" sz="1400" b="0" i="0" u="none" strike="noStrike">
              <a:solidFill>
                <a:srgbClr val="50370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33000"/>
              </a:lnSpc>
              <a:buClr>
                <a:srgbClr val="50370F"/>
              </a:buClr>
              <a:buChar char="•"/>
            </a:pPr>
            <a:r>
              <a:rPr lang="en-US" sz="1400" b="0" i="0" u="none" strike="noStrike">
                <a:solidFill>
                  <a:srgbClr val="50370F"/>
                </a:solidFill>
                <a:latin typeface="Noto Sans SC"/>
                <a:ea typeface="Noto Sans SC"/>
                <a:cs typeface="Noto Sans SC"/>
                <a:sym typeface="Noto Sans SC"/>
              </a:rPr>
              <a:t>Học tập tốt để mai này đóng góp vào sáng tạo công nghệ.</a:t>
            </a:r>
            <a:endParaRPr lang="en-US" sz="1400" b="0" i="0" u="none" strike="noStrike">
              <a:solidFill>
                <a:srgbClr val="50370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 t="65" b="65"/>
          <a:stretch>
            <a:fillRect/>
          </a:stretch>
        </p:blipFill>
        <p:spPr>
          <a:xfrm>
            <a:off x="7061200" y="2159000"/>
            <a:ext cx="4318000" cy="2425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 txBox="1"/>
          <p:nvPr/>
        </p:nvSpPr>
        <p:spPr>
          <a:xfrm>
            <a:off x="7061200" y="46736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0" i="0" u="none" strike="noStrike">
                <a:solidFill>
                  <a:srgbClr val="3C3C37"/>
                </a:solidFill>
                <a:latin typeface="Noto Sans SC"/>
                <a:ea typeface="Noto Sans SC"/>
                <a:cs typeface="Noto Sans SC"/>
                <a:sym typeface="Noto Sans SC"/>
              </a:rPr>
              <a:t>Trạm sạc xe điện có mái pin mặt trời — ví dụ điển hình: năng lượng sạch đi cùng giao thông sạch.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812800" y="64516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Mỗi lựa chọn nhỏ hôm nay định hình tương lai 2050.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160000" y="6451600"/>
            <a:ext cx="1219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E6C64"/>
                </a:solidFill>
                <a:latin typeface="Noto Sans SC"/>
                <a:ea typeface="Noto Sans SC"/>
                <a:cs typeface="Noto Sans SC"/>
                <a:sym typeface="Noto Sans SC"/>
              </a:rPr>
              <a:t>11 / 12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7812" b="78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F1C14">
                  <a:alpha val="25000"/>
                </a:srgbClr>
              </a:gs>
              <a:gs pos="50000">
                <a:srgbClr val="0F1C14">
                  <a:alpha val="55000"/>
                </a:srgbClr>
              </a:gs>
              <a:gs pos="100000">
                <a:srgbClr val="0A140E">
                  <a:alpha val="8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4" name="Connector 4"/>
          <p:cNvCxnSpPr/>
          <p:nvPr/>
        </p:nvCxnSpPr>
        <p:spPr>
          <a:xfrm rot="-34376">
            <a:off x="5461032" y="2533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C8853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812800" y="2794000"/>
            <a:ext cx="1056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6EE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MỘT TƯƠNG LAI SÁNG SỬA ĐANG CHỜ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12800" y="3429000"/>
            <a:ext cx="10566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Tương lai sạch bắt đầu từ</a:t>
            </a:r>
            <a:b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lựa chọn của em hôm nay.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12800" y="5334000"/>
            <a:ext cx="1056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1EBE1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Cảm ơn sự lắng nghe · Nhóm 8A1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4757</Words>
  <Application>WPS Presentation</Application>
  <PresentationFormat/>
  <Paragraphs>264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Noto Sans SC</vt:lpstr>
      <vt:lpstr>Segoe Print</vt:lpstr>
      <vt:lpstr>Microsoft YaHei</vt:lpstr>
      <vt:lpstr>Arial Unicode MS</vt:lpstr>
      <vt:lpstr>Office 主题​​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Thế huy Đoàn</cp:lastModifiedBy>
  <cp:revision>1</cp:revision>
  <dcterms:created xsi:type="dcterms:W3CDTF">2026-10-05T13:42:26Z</dcterms:created>
  <dcterms:modified xsi:type="dcterms:W3CDTF">2026-10-05T13:42:26Z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{"Label":"1","ContentProducer":"001191110102MACQD9K64010000","ProduceID":"7693178085717610206","ReservedCode1":"","ContentPropagator":"","PropagateID":"","ReservedCode2":""}</vt:lpwstr>
  </property>
  <property fmtid="{D5CDD505-2E9C-101B-9397-08002B2CF9AE}" pid="3" name="ICV">
    <vt:lpwstr>7F79978C64C34B34B93A42077AF41A39_12</vt:lpwstr>
  </property>
  <property fmtid="{D5CDD505-2E9C-101B-9397-08002B2CF9AE}" pid="4" name="KSOProductBuildVer">
    <vt:lpwstr>1033-12.1.0.28485</vt:lpwstr>
  </property>
</Properties>
</file>