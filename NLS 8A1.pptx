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Chào mừng mọi người. Bài thuyết trình ngày hôm nay do Thế Huy và Cẩm Tú thực hiện, cùng khám phá hành trình chuyển dịch năng lượng sạch: từ bối cảnh khẩn cấp, qua ba công nghệ cốt lõi, đến lợi ích kép và tầm nhìn Net Zero 2050, kết thúc bằng lời kêu gọi hành động.</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Con số 75% từ IEA khẳng định ngành năng lượng là trọng tâm của cuộc chiến khí hậu. Nhiệt độ đã tăng 1,1 độ C, 80% năng lượng vẫn từ hóa thạch. Tuy nhiên năm 2025 ghi nhận 692 GW tái tạo mới — tín hiệu cho thấy cuộc chuyển dịch đã tăng tốc mạnh mẽ.</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Chương trình gồm năm phần. Chúng ta bắt đầu từ bối cảnh khẩn cấp, đi sâu vào ba công nghệ cốt lõi, phân tích lợi ích kép về kinh tế và môi trường, nhìn về tầm nhìn Net Zero 2050, và kết thúc bằng hành động cụ thể.</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Ba áp lực này cùng tác động: khí hậu đòi hỏi cắt giảm phát thải, hóa thạch ngày càng đắt đỏ và hữu hạn, an ninh năng lượng đòi hỏi tự chủ hơn. Năng lượng tái tạo giải quyết đồng thời cả ba vấn đề.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Ba công nghệ bổ trợ cho nhau: mặt trời và gió tạo điện rẻ, hydrogen xanh giải quyết các ngành khó điện khí hóa như thép, hóa chất, vận tải hàng hải. Cùng với lưới thông minh, chúng tạo nên hệ năng lượng bền vững.</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Điện mặt trời là câu chuyện thành công lớn nhất của chuyển dịch năng lượng. Giá đã giảm 90% trong một thập kỷ, trở thành nguồn điện rẻ nhất lịch sử. Công suất toàn cầu vượt 1.500 GW, từ hệ mái nhà nhỏ đến công viên hàng GW.</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Điện gió, đặc biệt ngoài khơi, cung cấp nguồn ổn định 24/7 với công suất đơn máy ngày càng lớn — lên đến 18 MW. Một tuabin 15 MW cấp điện cho khoảng 15.000 hộ. Thị trường ngoài khơi dự kiến tăng gấp bốn lần vào năm 2030.</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Hydrogen xanh được sản xuất bằng điện phân nước dùng điện tái tạo, không phát thải carbon. Nó là mảnh ghép then chốt cho các ngành khó điện khí hóa như thép, hóa chất, vận tải hàng hải, đồng thời làm phương tiện lưu trữ năng lượng dài hạn.</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Năng lượng sạch không phải đánh đổi giữa kinh tế và môi trường — nó tạo ra cả hai. Ngành tái tạo đã tạo 16,6 triệu việc làm, điện tái tạo rẻ hơn hóa thạch ở 90% thị trường, và đồng thời cắt giảm nguồn gốc ô nhiễm không khí giết 7 triệu người mỗi năm. Lưới thông minh là điều kiện then chốt.</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Theo kịch bản Net Zero của IEA, thập kỷ này là then chốt: đến 2030 cần lắp đặt 630 GW mặt trời và 390 GW gió mỗi năm, gấp bốn lần kỷ lục. Đến 2040 than được loại bỏ dần, lưới thông minh bao phủ. Đến 2050 khoảng 90% điện từ tái tạo, đưa toàn cầu đạt Net Zero.</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Chuyển dịch năng lượng cần hành động đồng bộ từ ba bên: chính sách tạo khung khuyến khích, doanh nghiệp dẫn đầu bằng hợp đồng mua điện tái tạo và đầu tư hydrogen, cá nhân tham gia bằng tiêu dùng thông minh. Mỗi lựa chọn hôm nay định hình tương lai 2050. Chúng tôi là Thế Huy và Cẩm Tú, rất cảm ơn và sẵn sàng trả lời câu hỏi.</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Trang kết thúc với thông điệp cảm xúc: tương lai bền vững không phải là điểm đến xa xôi mà bắt đầu từ những lựa chọn năng lượng của mỗi chúng ta hôm nay. Tác giả Thế Huy và Cẩm Tú cảm ơn khán giả và mở phần hỏi đáp.</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image" Target="../media/image4.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image" Target="../media/image5.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2.xml"/><Relationship Id="rId1" Type="http://schemas.openxmlformats.org/officeDocument/2006/relationships/image" Target="../media/image6.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l="13" r="13"/>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3175000"/>
            <a:ext cx="12192000" cy="3683000"/>
          </a:xfrm>
          <a:prstGeom prst="roundRect">
            <a:avLst>
              <a:gd name="adj" fmla="val 0"/>
            </a:avLst>
          </a:prstGeom>
          <a:gradFill rotWithShape="1">
            <a:gsLst>
              <a:gs pos="0">
                <a:srgbClr val="122018">
                  <a:alpha val="0"/>
                </a:srgbClr>
              </a:gs>
              <a:gs pos="100000">
                <a:srgbClr val="0D1812">
                  <a:alpha val="94000"/>
                </a:srgbClr>
              </a:gs>
            </a:gsLst>
            <a:lin ang="5400000"/>
          </a:gra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812800" y="4140200"/>
            <a:ext cx="558800" cy="38100"/>
          </a:xfrm>
          <a:prstGeom prst="roundRect">
            <a:avLst>
              <a:gd name="adj" fmla="val 0"/>
            </a:avLst>
          </a:prstGeom>
          <a:solidFill>
            <a:srgbClr val="C17B3A">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txBox="1"/>
          <p:nvPr/>
        </p:nvSpPr>
        <p:spPr>
          <a:xfrm>
            <a:off x="812800" y="4318000"/>
            <a:ext cx="8890000" cy="2794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100" b="0" i="0" u="none" strike="noStrike">
                <a:solidFill>
                  <a:srgbClr val="FFFFFF">
                    <a:alpha val="81961"/>
                  </a:srgbClr>
                </a:solidFill>
                <a:latin typeface="Montserrat"/>
                <a:ea typeface="Montserrat"/>
                <a:cs typeface="Montserrat"/>
                <a:sym typeface="Montserrat"/>
              </a:rPr>
              <a:t>CLEAN ENERGY · SUSTAINABLE FUTURE</a:t>
            </a:r>
            <a:endParaRPr lang="en-US" sz="1100"/>
          </a:p>
        </p:txBody>
      </p:sp>
      <p:sp>
        <p:nvSpPr>
          <p:cNvPr id="6" name="AutoShape 6"/>
          <p:cNvSpPr txBox="1"/>
          <p:nvPr/>
        </p:nvSpPr>
        <p:spPr>
          <a:xfrm>
            <a:off x="812800" y="4648200"/>
            <a:ext cx="10566400" cy="9652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5600" b="1" i="0" u="none" strike="noStrike">
                <a:solidFill>
                  <a:srgbClr val="FFFFFF"/>
                </a:solidFill>
                <a:latin typeface="Playfair Display"/>
                <a:ea typeface="Playfair Display"/>
                <a:cs typeface="Playfair Display"/>
                <a:sym typeface="Playfair Display"/>
              </a:rPr>
              <a:t>Năng lượng sạch</a:t>
            </a:r>
            <a:endParaRPr lang="en-US" sz="1100"/>
          </a:p>
        </p:txBody>
      </p:sp>
      <p:sp>
        <p:nvSpPr>
          <p:cNvPr id="7" name="AutoShape 7"/>
          <p:cNvSpPr txBox="1"/>
          <p:nvPr/>
        </p:nvSpPr>
        <p:spPr>
          <a:xfrm>
            <a:off x="812800" y="5664200"/>
            <a:ext cx="10566400" cy="4318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100" b="1" i="0" u="none" strike="noStrike">
                <a:solidFill>
                  <a:srgbClr val="FFFFFF">
                    <a:alpha val="90196"/>
                  </a:srgbClr>
                </a:solidFill>
                <a:latin typeface="Inter"/>
                <a:ea typeface="Inter"/>
                <a:cs typeface="Inter"/>
                <a:sym typeface="Inter"/>
              </a:rPr>
              <a:t>Động lực cho Tương lai Bền vững</a:t>
            </a:r>
            <a:endParaRPr lang="en-US" sz="1100"/>
          </a:p>
        </p:txBody>
      </p:sp>
      <p:cxnSp>
        <p:nvCxnSpPr>
          <p:cNvPr id="8" name="Connector 8"/>
          <p:cNvCxnSpPr/>
          <p:nvPr/>
        </p:nvCxnSpPr>
        <p:spPr>
          <a:xfrm rot="-40923">
            <a:off x="812838" y="6267450"/>
            <a:ext cx="1066800" cy="12700"/>
          </a:xfrm>
          <a:prstGeom prst="straightConnector1">
            <a:avLst/>
          </a:prstGeom>
          <a:solidFill>
            <a:srgbClr val="DEE0E3">
              <a:alpha val="100000"/>
            </a:srgbClr>
          </a:solidFill>
          <a:ln w="12700" cap="flat" cmpd="sng">
            <a:solidFill>
              <a:srgbClr val="FFFFFF">
                <a:alpha val="45000"/>
              </a:srgbClr>
            </a:solidFill>
            <a:prstDash val="solid"/>
            <a:round/>
            <a:headEnd type="none" w="med" len="med"/>
            <a:tailEnd type="none" w="med" len="med"/>
          </a:ln>
        </p:spPr>
      </p:cxnSp>
      <p:sp>
        <p:nvSpPr>
          <p:cNvPr id="9" name="AutoShape 9"/>
          <p:cNvSpPr txBox="1"/>
          <p:nvPr/>
        </p:nvSpPr>
        <p:spPr>
          <a:xfrm>
            <a:off x="812800" y="6375400"/>
            <a:ext cx="5080000" cy="3048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400" b="1" i="0" u="none" strike="noStrike">
                <a:solidFill>
                  <a:srgbClr val="FFFFFF"/>
                </a:solidFill>
                <a:latin typeface="Inter"/>
                <a:ea typeface="Inter"/>
                <a:cs typeface="Inter"/>
                <a:sym typeface="Inter"/>
              </a:rPr>
              <a:t>Thế Huy · Cẩm Tú</a:t>
            </a:r>
            <a:endParaRPr lang="en-US" sz="1100"/>
          </a:p>
        </p:txBody>
      </p:sp>
      <p:sp>
        <p:nvSpPr>
          <p:cNvPr id="10" name="AutoShape 10"/>
          <p:cNvSpPr txBox="1"/>
          <p:nvPr/>
        </p:nvSpPr>
        <p:spPr>
          <a:xfrm>
            <a:off x="7112000" y="6426200"/>
            <a:ext cx="4267200" cy="254000"/>
          </a:xfrm>
          <a:prstGeom prst="rect">
            <a:avLst/>
          </a:prstGeom>
          <a:noFill/>
          <a:ln w="12700" cap="flat" cmpd="sng">
            <a:noFill/>
            <a:prstDash val="solid"/>
            <a:round/>
          </a:ln>
        </p:spPr>
        <p:txBody>
          <a:bodyPr vert="horz" wrap="none" lIns="0" tIns="0" rIns="0" bIns="0" rtlCol="0" anchor="ctr" anchorCtr="0"/>
          <a:lstStyle/>
          <a:p>
            <a:pPr marL="0" indent="0" algn="r">
              <a:lnSpc>
                <a:spcPct val="125000"/>
              </a:lnSpc>
              <a:defRPr/>
            </a:pPr>
            <a:r>
              <a:rPr lang="en-US" sz="1000" b="0" i="0" u="none" strike="noStrike">
                <a:solidFill>
                  <a:srgbClr val="FFFFFF">
                    <a:alpha val="65098"/>
                  </a:srgbClr>
                </a:solidFill>
                <a:latin typeface="Montserrat"/>
                <a:ea typeface="Montserrat"/>
                <a:cs typeface="Montserrat"/>
                <a:sym typeface="Montserrat"/>
              </a:rPr>
              <a:t>BÁO CÁO CHUYỂN DỊCH NĂNG LƯỢNG · 2026</a:t>
            </a:r>
            <a:endParaRPr lang="en-US" sz="110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9F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12800" y="584200"/>
            <a:ext cx="406400" cy="38100"/>
          </a:xfrm>
          <a:prstGeom prst="roundRect">
            <a:avLst>
              <a:gd name="adj" fmla="val 0"/>
            </a:avLst>
          </a:prstGeom>
          <a:solidFill>
            <a:srgbClr val="1B4D3E">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txBox="1"/>
          <p:nvPr/>
        </p:nvSpPr>
        <p:spPr>
          <a:xfrm>
            <a:off x="1320800" y="508000"/>
            <a:ext cx="5080000" cy="2286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000" b="0" i="0" u="none" strike="noStrike">
                <a:solidFill>
                  <a:srgbClr val="1B4D3E"/>
                </a:solidFill>
                <a:latin typeface="Montserrat"/>
                <a:ea typeface="Montserrat"/>
                <a:cs typeface="Montserrat"/>
                <a:sym typeface="Montserrat"/>
              </a:rPr>
              <a:t>01 · BỐI CẢNH</a:t>
            </a:r>
            <a:endParaRPr lang="en-US" sz="1100"/>
          </a:p>
        </p:txBody>
      </p:sp>
      <p:sp>
        <p:nvSpPr>
          <p:cNvPr id="4" name="AutoShape 4"/>
          <p:cNvSpPr txBox="1"/>
          <p:nvPr/>
        </p:nvSpPr>
        <p:spPr>
          <a:xfrm>
            <a:off x="812800" y="863600"/>
            <a:ext cx="10566400" cy="5588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700" b="1" i="0" u="none" strike="noStrike">
                <a:solidFill>
                  <a:srgbClr val="1A1F1B"/>
                </a:solidFill>
                <a:latin typeface="Playfair Display"/>
                <a:ea typeface="Playfair Display"/>
                <a:cs typeface="Playfair Display"/>
                <a:sym typeface="Playfair Display"/>
              </a:rPr>
              <a:t>Năng lượng tạo ra ba phần tư phát thải nhà kính</a:t>
            </a:r>
            <a:endParaRPr lang="en-US" sz="1100"/>
          </a:p>
        </p:txBody>
      </p:sp>
      <p:cxnSp>
        <p:nvCxnSpPr>
          <p:cNvPr id="5" name="Connector 5"/>
          <p:cNvCxnSpPr/>
          <p:nvPr/>
        </p:nvCxnSpPr>
        <p:spPr>
          <a:xfrm rot="-4131">
            <a:off x="812804" y="1619250"/>
            <a:ext cx="10566400" cy="12700"/>
          </a:xfrm>
          <a:prstGeom prst="straightConnector1">
            <a:avLst/>
          </a:prstGeom>
          <a:solidFill>
            <a:srgbClr val="DEE0E3">
              <a:alpha val="100000"/>
            </a:srgbClr>
          </a:solidFill>
          <a:ln w="12700" cap="flat" cmpd="sng">
            <a:solidFill>
              <a:srgbClr val="E0DED6">
                <a:alpha val="100000"/>
              </a:srgbClr>
            </a:solidFill>
            <a:prstDash val="solid"/>
            <a:round/>
            <a:headEnd type="none" w="med" len="med"/>
            <a:tailEnd type="none" w="med" len="med"/>
          </a:ln>
        </p:spPr>
      </p:cxnSp>
      <p:sp>
        <p:nvSpPr>
          <p:cNvPr id="6" name="AutoShape 6"/>
          <p:cNvSpPr txBox="1"/>
          <p:nvPr/>
        </p:nvSpPr>
        <p:spPr>
          <a:xfrm>
            <a:off x="812800" y="2006600"/>
            <a:ext cx="5461000" cy="2286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5000" b="1" i="0" u="none" strike="noStrike">
                <a:solidFill>
                  <a:srgbClr val="1B4D3E"/>
                </a:solidFill>
                <a:latin typeface="Anton"/>
                <a:ea typeface="Anton"/>
                <a:cs typeface="Anton"/>
                <a:sym typeface="Anton"/>
              </a:rPr>
              <a:t>75</a:t>
            </a:r>
            <a:r>
              <a:rPr lang="en-US" sz="15000" b="1" i="0" u="none" strike="noStrike">
                <a:solidFill>
                  <a:srgbClr val="C17B3A"/>
                </a:solidFill>
                <a:latin typeface="Anton"/>
                <a:ea typeface="Anton"/>
                <a:cs typeface="Anton"/>
                <a:sym typeface="Anton"/>
              </a:rPr>
              <a:t>%</a:t>
            </a:r>
            <a:endParaRPr lang="en-US" sz="1100"/>
          </a:p>
        </p:txBody>
      </p:sp>
      <p:sp>
        <p:nvSpPr>
          <p:cNvPr id="7" name="AutoShape 7"/>
          <p:cNvSpPr txBox="1"/>
          <p:nvPr/>
        </p:nvSpPr>
        <p:spPr>
          <a:xfrm>
            <a:off x="812800" y="4394200"/>
            <a:ext cx="5207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A524A"/>
                </a:solidFill>
                <a:latin typeface="Inter"/>
                <a:ea typeface="Inter"/>
                <a:cs typeface="Inter"/>
                <a:sym typeface="Inter"/>
              </a:rPr>
              <a:t>khí thải nhà kính toàn cầu đến từ ngành năng lượng — trọng tâm của cuộc chiến khí hậu.</a:t>
            </a:r>
            <a:endParaRPr lang="en-US" sz="1100"/>
          </a:p>
        </p:txBody>
      </p:sp>
      <p:cxnSp>
        <p:nvCxnSpPr>
          <p:cNvPr id="8" name="Connector 8"/>
          <p:cNvCxnSpPr/>
          <p:nvPr/>
        </p:nvCxnSpPr>
        <p:spPr>
          <a:xfrm rot="-9822">
            <a:off x="6731009" y="3168650"/>
            <a:ext cx="4445000" cy="12700"/>
          </a:xfrm>
          <a:prstGeom prst="straightConnector1">
            <a:avLst/>
          </a:prstGeom>
          <a:solidFill>
            <a:srgbClr val="DEE0E3">
              <a:alpha val="100000"/>
            </a:srgbClr>
          </a:solidFill>
          <a:ln w="12700" cap="flat" cmpd="sng">
            <a:solidFill>
              <a:srgbClr val="E0DED6">
                <a:alpha val="100000"/>
              </a:srgbClr>
            </a:solidFill>
            <a:prstDash val="solid"/>
            <a:round/>
            <a:headEnd type="none" w="med" len="med"/>
            <a:tailEnd type="none" w="med" len="med"/>
          </a:ln>
        </p:spPr>
      </p:cxnSp>
      <p:cxnSp>
        <p:nvCxnSpPr>
          <p:cNvPr id="9" name="Connector 9"/>
          <p:cNvCxnSpPr/>
          <p:nvPr/>
        </p:nvCxnSpPr>
        <p:spPr>
          <a:xfrm rot="-9822">
            <a:off x="6731009" y="4438650"/>
            <a:ext cx="4445000" cy="12700"/>
          </a:xfrm>
          <a:prstGeom prst="straightConnector1">
            <a:avLst/>
          </a:prstGeom>
          <a:solidFill>
            <a:srgbClr val="DEE0E3">
              <a:alpha val="100000"/>
            </a:srgbClr>
          </a:solidFill>
          <a:ln w="12700" cap="flat" cmpd="sng">
            <a:solidFill>
              <a:srgbClr val="E0DED6">
                <a:alpha val="100000"/>
              </a:srgbClr>
            </a:solidFill>
            <a:prstDash val="solid"/>
            <a:round/>
            <a:headEnd type="none" w="med" len="med"/>
            <a:tailEnd type="none" w="med" len="med"/>
          </a:ln>
        </p:spPr>
      </p:cxnSp>
      <p:sp>
        <p:nvSpPr>
          <p:cNvPr id="10" name="AutoShape 10"/>
          <p:cNvSpPr txBox="1"/>
          <p:nvPr/>
        </p:nvSpPr>
        <p:spPr>
          <a:xfrm>
            <a:off x="6731000" y="2057400"/>
            <a:ext cx="4445000" cy="5588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3000" b="1" i="0" u="none" strike="noStrike">
                <a:solidFill>
                  <a:srgbClr val="1A1F1B"/>
                </a:solidFill>
                <a:latin typeface="Montserrat"/>
                <a:ea typeface="Montserrat"/>
                <a:cs typeface="Montserrat"/>
                <a:sym typeface="Montserrat"/>
              </a:rPr>
              <a:t>+1,1°C</a:t>
            </a:r>
            <a:endParaRPr lang="en-US" sz="1100"/>
          </a:p>
        </p:txBody>
      </p:sp>
      <p:sp>
        <p:nvSpPr>
          <p:cNvPr id="11" name="AutoShape 11"/>
          <p:cNvSpPr txBox="1"/>
          <p:nvPr/>
        </p:nvSpPr>
        <p:spPr>
          <a:xfrm>
            <a:off x="6731000" y="2641600"/>
            <a:ext cx="4445000" cy="431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4A524A"/>
                </a:solidFill>
                <a:latin typeface="Inter"/>
                <a:ea typeface="Inter"/>
                <a:cs typeface="Inter"/>
                <a:sym typeface="Inter"/>
              </a:rPr>
              <a:t>nhiệt độ toàn cầu so với thời kỳ tiền công nghiệp</a:t>
            </a:r>
            <a:endParaRPr lang="en-US" sz="1100"/>
          </a:p>
        </p:txBody>
      </p:sp>
      <p:sp>
        <p:nvSpPr>
          <p:cNvPr id="12" name="AutoShape 12"/>
          <p:cNvSpPr txBox="1"/>
          <p:nvPr/>
        </p:nvSpPr>
        <p:spPr>
          <a:xfrm>
            <a:off x="6731000" y="3327400"/>
            <a:ext cx="4445000" cy="5588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3000" b="1" i="0" u="none" strike="noStrike">
                <a:solidFill>
                  <a:srgbClr val="1A1F1B"/>
                </a:solidFill>
                <a:latin typeface="Montserrat"/>
                <a:ea typeface="Montserrat"/>
                <a:cs typeface="Montserrat"/>
                <a:sym typeface="Montserrat"/>
              </a:rPr>
              <a:t>80%</a:t>
            </a:r>
            <a:endParaRPr lang="en-US" sz="1100"/>
          </a:p>
        </p:txBody>
      </p:sp>
      <p:sp>
        <p:nvSpPr>
          <p:cNvPr id="13" name="AutoShape 13"/>
          <p:cNvSpPr txBox="1"/>
          <p:nvPr/>
        </p:nvSpPr>
        <p:spPr>
          <a:xfrm>
            <a:off x="6731000" y="3911600"/>
            <a:ext cx="4445000" cy="431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4A524A"/>
                </a:solidFill>
                <a:latin typeface="Inter"/>
                <a:ea typeface="Inter"/>
                <a:cs typeface="Inter"/>
                <a:sym typeface="Inter"/>
              </a:rPr>
              <a:t>năng lượng sơ cấp vẫn từ nhiên liệu hóa thạch</a:t>
            </a:r>
            <a:endParaRPr lang="en-US" sz="1100"/>
          </a:p>
        </p:txBody>
      </p:sp>
      <p:sp>
        <p:nvSpPr>
          <p:cNvPr id="14" name="AutoShape 14"/>
          <p:cNvSpPr txBox="1"/>
          <p:nvPr/>
        </p:nvSpPr>
        <p:spPr>
          <a:xfrm>
            <a:off x="6731000" y="4597400"/>
            <a:ext cx="4445000" cy="5588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3000" b="1" i="0" u="none" strike="noStrike">
                <a:solidFill>
                  <a:srgbClr val="C17B3A"/>
                </a:solidFill>
                <a:latin typeface="Montserrat"/>
                <a:ea typeface="Montserrat"/>
                <a:cs typeface="Montserrat"/>
                <a:sym typeface="Montserrat"/>
              </a:rPr>
              <a:t>692 GW</a:t>
            </a:r>
            <a:endParaRPr lang="en-US" sz="1100"/>
          </a:p>
        </p:txBody>
      </p:sp>
      <p:sp>
        <p:nvSpPr>
          <p:cNvPr id="15" name="AutoShape 15"/>
          <p:cNvSpPr txBox="1"/>
          <p:nvPr/>
        </p:nvSpPr>
        <p:spPr>
          <a:xfrm>
            <a:off x="6731000" y="5181600"/>
            <a:ext cx="4445000" cy="431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4A524A"/>
                </a:solidFill>
                <a:latin typeface="Inter"/>
                <a:ea typeface="Inter"/>
                <a:cs typeface="Inter"/>
                <a:sym typeface="Inter"/>
              </a:rPr>
              <a:t>công suất tái tạo mới năm 2025 — kỷ lục lịch sử</a:t>
            </a:r>
            <a:endParaRPr lang="en-US" sz="1100"/>
          </a:p>
        </p:txBody>
      </p:sp>
      <p:sp>
        <p:nvSpPr>
          <p:cNvPr id="16" name="AutoShape 16"/>
          <p:cNvSpPr txBox="1"/>
          <p:nvPr/>
        </p:nvSpPr>
        <p:spPr>
          <a:xfrm>
            <a:off x="812800" y="6451600"/>
            <a:ext cx="7620000" cy="2032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900" b="0" i="0" u="none" strike="noStrike">
                <a:solidFill>
                  <a:srgbClr val="8C8A82"/>
                </a:solidFill>
                <a:latin typeface="Inter"/>
                <a:ea typeface="Inter"/>
                <a:cs typeface="Inter"/>
                <a:sym typeface="Inter"/>
              </a:rPr>
              <a:t>Nguồn: IEA · IRENA 2025 · NASA GISS</a:t>
            </a:r>
            <a:endParaRPr lang="en-US" sz="1100"/>
          </a:p>
        </p:txBody>
      </p:sp>
      <p:sp>
        <p:nvSpPr>
          <p:cNvPr id="17" name="AutoShape 17"/>
          <p:cNvSpPr txBox="1"/>
          <p:nvPr/>
        </p:nvSpPr>
        <p:spPr>
          <a:xfrm>
            <a:off x="10668000" y="6451600"/>
            <a:ext cx="711200" cy="203200"/>
          </a:xfrm>
          <a:prstGeom prst="rect">
            <a:avLst/>
          </a:prstGeom>
          <a:noFill/>
          <a:ln w="12700" cap="flat" cmpd="sng">
            <a:noFill/>
            <a:prstDash val="solid"/>
            <a:round/>
          </a:ln>
        </p:spPr>
        <p:txBody>
          <a:bodyPr vert="horz" wrap="none" lIns="0" tIns="0" rIns="0" bIns="0" rtlCol="0" anchor="ctr" anchorCtr="0"/>
          <a:lstStyle/>
          <a:p>
            <a:pPr marL="0" indent="0" algn="r">
              <a:lnSpc>
                <a:spcPct val="125000"/>
              </a:lnSpc>
              <a:defRPr/>
            </a:pPr>
            <a:r>
              <a:rPr lang="en-US" sz="900" b="0" i="0" u="none" strike="noStrike">
                <a:solidFill>
                  <a:srgbClr val="8C8A82"/>
                </a:solidFill>
                <a:latin typeface="Inter"/>
                <a:ea typeface="Inter"/>
                <a:cs typeface="Inter"/>
                <a:sym typeface="Inter"/>
              </a:rPr>
              <a:t>02 / 12</a:t>
            </a:r>
            <a:endParaRPr lang="en-US" sz="110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9F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12800" y="584200"/>
            <a:ext cx="406400" cy="38100"/>
          </a:xfrm>
          <a:prstGeom prst="roundRect">
            <a:avLst>
              <a:gd name="adj" fmla="val 0"/>
            </a:avLst>
          </a:prstGeom>
          <a:solidFill>
            <a:srgbClr val="1B4D3E">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txBox="1"/>
          <p:nvPr/>
        </p:nvSpPr>
        <p:spPr>
          <a:xfrm>
            <a:off x="1320800" y="508000"/>
            <a:ext cx="5080000" cy="2286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000" b="0" i="0" u="none" strike="noStrike">
                <a:solidFill>
                  <a:srgbClr val="1B4D3E"/>
                </a:solidFill>
                <a:latin typeface="Montserrat"/>
                <a:ea typeface="Montserrat"/>
                <a:cs typeface="Montserrat"/>
                <a:sym typeface="Montserrat"/>
              </a:rPr>
              <a:t>MỤC LỤC · AGENDA</a:t>
            </a:r>
            <a:endParaRPr lang="en-US" sz="1100"/>
          </a:p>
        </p:txBody>
      </p:sp>
      <p:sp>
        <p:nvSpPr>
          <p:cNvPr id="4" name="AutoShape 4"/>
          <p:cNvSpPr txBox="1"/>
          <p:nvPr/>
        </p:nvSpPr>
        <p:spPr>
          <a:xfrm>
            <a:off x="812800" y="863600"/>
            <a:ext cx="10566400" cy="5588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800" b="1" i="0" u="none" strike="noStrike">
                <a:solidFill>
                  <a:srgbClr val="1A1F1B"/>
                </a:solidFill>
                <a:latin typeface="Playfair Display"/>
                <a:ea typeface="Playfair Display"/>
                <a:cs typeface="Playfair Display"/>
                <a:sym typeface="Playfair Display"/>
              </a:rPr>
              <a:t>Năm chặng của chuyển dịch năng lượng</a:t>
            </a:r>
            <a:endParaRPr lang="en-US" sz="1100"/>
          </a:p>
        </p:txBody>
      </p:sp>
      <p:cxnSp>
        <p:nvCxnSpPr>
          <p:cNvPr id="5" name="Connector 5"/>
          <p:cNvCxnSpPr/>
          <p:nvPr/>
        </p:nvCxnSpPr>
        <p:spPr>
          <a:xfrm rot="-4131">
            <a:off x="812804" y="1619250"/>
            <a:ext cx="10566400" cy="12700"/>
          </a:xfrm>
          <a:prstGeom prst="straightConnector1">
            <a:avLst/>
          </a:prstGeom>
          <a:solidFill>
            <a:srgbClr val="DEE0E3">
              <a:alpha val="100000"/>
            </a:srgbClr>
          </a:solidFill>
          <a:ln w="12700" cap="flat" cmpd="sng">
            <a:solidFill>
              <a:srgbClr val="E0DED6">
                <a:alpha val="100000"/>
              </a:srgbClr>
            </a:solidFill>
            <a:prstDash val="solid"/>
            <a:round/>
            <a:headEnd type="none" w="med" len="med"/>
            <a:tailEnd type="none" w="med" len="med"/>
          </a:ln>
        </p:spPr>
      </p:cxnSp>
      <p:sp>
        <p:nvSpPr>
          <p:cNvPr id="6" name="AutoShape 6"/>
          <p:cNvSpPr txBox="1"/>
          <p:nvPr/>
        </p:nvSpPr>
        <p:spPr>
          <a:xfrm>
            <a:off x="812800" y="1955800"/>
            <a:ext cx="1016000" cy="6096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3400" b="1" i="0" u="none" strike="noStrike">
                <a:solidFill>
                  <a:srgbClr val="1B4D3E">
                    <a:alpha val="34902"/>
                  </a:srgbClr>
                </a:solidFill>
                <a:latin typeface="Playfair Display"/>
                <a:ea typeface="Playfair Display"/>
                <a:cs typeface="Playfair Display"/>
                <a:sym typeface="Playfair Display"/>
              </a:rPr>
              <a:t>01</a:t>
            </a:r>
            <a:endParaRPr lang="en-US" sz="1100"/>
          </a:p>
        </p:txBody>
      </p:sp>
      <p:sp>
        <p:nvSpPr>
          <p:cNvPr id="7" name="AutoShape 7"/>
          <p:cNvSpPr txBox="1"/>
          <p:nvPr/>
        </p:nvSpPr>
        <p:spPr>
          <a:xfrm>
            <a:off x="2032000" y="2006600"/>
            <a:ext cx="4064000" cy="3556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700" b="1" i="0" u="none" strike="noStrike">
                <a:solidFill>
                  <a:srgbClr val="1A1F1B"/>
                </a:solidFill>
                <a:latin typeface="Inter"/>
                <a:ea typeface="Inter"/>
                <a:cs typeface="Inter"/>
                <a:sym typeface="Inter"/>
              </a:rPr>
              <a:t>Bối cảnh</a:t>
            </a:r>
            <a:endParaRPr lang="en-US" sz="1100"/>
          </a:p>
        </p:txBody>
      </p:sp>
      <p:sp>
        <p:nvSpPr>
          <p:cNvPr id="8" name="AutoShape 8"/>
          <p:cNvSpPr txBox="1"/>
          <p:nvPr/>
        </p:nvSpPr>
        <p:spPr>
          <a:xfrm>
            <a:off x="2032000" y="2362200"/>
            <a:ext cx="6350000" cy="254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100" b="0" i="0" u="none" strike="noStrike">
                <a:solidFill>
                  <a:srgbClr val="787C74"/>
                </a:solidFill>
                <a:latin typeface="Inter"/>
                <a:ea typeface="Inter"/>
                <a:cs typeface="Inter"/>
                <a:sym typeface="Inter"/>
              </a:rPr>
              <a:t>Tại sao phải chuyển dịch năng lượng ngay hôm nay</a:t>
            </a:r>
            <a:endParaRPr lang="en-US" sz="1100"/>
          </a:p>
        </p:txBody>
      </p:sp>
      <p:cxnSp>
        <p:nvCxnSpPr>
          <p:cNvPr id="9" name="Connector 9"/>
          <p:cNvCxnSpPr/>
          <p:nvPr/>
        </p:nvCxnSpPr>
        <p:spPr>
          <a:xfrm rot="-4131">
            <a:off x="812804" y="2711450"/>
            <a:ext cx="10566400" cy="12700"/>
          </a:xfrm>
          <a:prstGeom prst="straightConnector1">
            <a:avLst/>
          </a:prstGeom>
          <a:solidFill>
            <a:srgbClr val="DEE0E3">
              <a:alpha val="100000"/>
            </a:srgbClr>
          </a:solidFill>
          <a:ln w="12700" cap="flat" cmpd="sng">
            <a:solidFill>
              <a:srgbClr val="E4E2DA">
                <a:alpha val="100000"/>
              </a:srgbClr>
            </a:solidFill>
            <a:prstDash val="solid"/>
            <a:round/>
            <a:headEnd type="none" w="med" len="med"/>
            <a:tailEnd type="none" w="med" len="med"/>
          </a:ln>
        </p:spPr>
      </p:cxnSp>
      <p:sp>
        <p:nvSpPr>
          <p:cNvPr id="10" name="AutoShape 10"/>
          <p:cNvSpPr txBox="1"/>
          <p:nvPr/>
        </p:nvSpPr>
        <p:spPr>
          <a:xfrm>
            <a:off x="812800" y="2844800"/>
            <a:ext cx="1016000" cy="6096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3400" b="1" i="0" u="none" strike="noStrike">
                <a:solidFill>
                  <a:srgbClr val="1B4D3E">
                    <a:alpha val="34902"/>
                  </a:srgbClr>
                </a:solidFill>
                <a:latin typeface="Playfair Display"/>
                <a:ea typeface="Playfair Display"/>
                <a:cs typeface="Playfair Display"/>
                <a:sym typeface="Playfair Display"/>
              </a:rPr>
              <a:t>02</a:t>
            </a:r>
            <a:endParaRPr lang="en-US" sz="1100"/>
          </a:p>
        </p:txBody>
      </p:sp>
      <p:sp>
        <p:nvSpPr>
          <p:cNvPr id="11" name="AutoShape 11"/>
          <p:cNvSpPr txBox="1"/>
          <p:nvPr/>
        </p:nvSpPr>
        <p:spPr>
          <a:xfrm>
            <a:off x="2032000" y="2895600"/>
            <a:ext cx="4064000" cy="3556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700" b="1" i="0" u="none" strike="noStrike">
                <a:solidFill>
                  <a:srgbClr val="1A1F1B"/>
                </a:solidFill>
                <a:latin typeface="Inter"/>
                <a:ea typeface="Inter"/>
                <a:cs typeface="Inter"/>
                <a:sym typeface="Inter"/>
              </a:rPr>
              <a:t>Công nghệ cốt lõi</a:t>
            </a:r>
            <a:endParaRPr lang="en-US" sz="1100"/>
          </a:p>
        </p:txBody>
      </p:sp>
      <p:sp>
        <p:nvSpPr>
          <p:cNvPr id="12" name="AutoShape 12"/>
          <p:cNvSpPr txBox="1"/>
          <p:nvPr/>
        </p:nvSpPr>
        <p:spPr>
          <a:xfrm>
            <a:off x="2032000" y="3251200"/>
            <a:ext cx="6350000" cy="254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100" b="0" i="0" u="none" strike="noStrike">
                <a:solidFill>
                  <a:srgbClr val="787C74"/>
                </a:solidFill>
                <a:latin typeface="Inter"/>
                <a:ea typeface="Inter"/>
                <a:cs typeface="Inter"/>
                <a:sym typeface="Inter"/>
              </a:rPr>
              <a:t>Điện mặt trời · Điện gió · Hydrogen xanh</a:t>
            </a:r>
            <a:endParaRPr lang="en-US" sz="1100"/>
          </a:p>
        </p:txBody>
      </p:sp>
      <p:cxnSp>
        <p:nvCxnSpPr>
          <p:cNvPr id="13" name="Connector 13"/>
          <p:cNvCxnSpPr/>
          <p:nvPr/>
        </p:nvCxnSpPr>
        <p:spPr>
          <a:xfrm rot="-4131">
            <a:off x="812804" y="3600450"/>
            <a:ext cx="10566400" cy="12700"/>
          </a:xfrm>
          <a:prstGeom prst="straightConnector1">
            <a:avLst/>
          </a:prstGeom>
          <a:solidFill>
            <a:srgbClr val="DEE0E3">
              <a:alpha val="100000"/>
            </a:srgbClr>
          </a:solidFill>
          <a:ln w="12700" cap="flat" cmpd="sng">
            <a:solidFill>
              <a:srgbClr val="E4E2DA">
                <a:alpha val="100000"/>
              </a:srgbClr>
            </a:solidFill>
            <a:prstDash val="solid"/>
            <a:round/>
            <a:headEnd type="none" w="med" len="med"/>
            <a:tailEnd type="none" w="med" len="med"/>
          </a:ln>
        </p:spPr>
      </p:cxnSp>
      <p:sp>
        <p:nvSpPr>
          <p:cNvPr id="14" name="AutoShape 14"/>
          <p:cNvSpPr txBox="1"/>
          <p:nvPr/>
        </p:nvSpPr>
        <p:spPr>
          <a:xfrm>
            <a:off x="812800" y="3733800"/>
            <a:ext cx="1016000" cy="6096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3400" b="1" i="0" u="none" strike="noStrike">
                <a:solidFill>
                  <a:srgbClr val="1B4D3E">
                    <a:alpha val="34902"/>
                  </a:srgbClr>
                </a:solidFill>
                <a:latin typeface="Playfair Display"/>
                <a:ea typeface="Playfair Display"/>
                <a:cs typeface="Playfair Display"/>
                <a:sym typeface="Playfair Display"/>
              </a:rPr>
              <a:t>03</a:t>
            </a:r>
            <a:endParaRPr lang="en-US" sz="1100"/>
          </a:p>
        </p:txBody>
      </p:sp>
      <p:sp>
        <p:nvSpPr>
          <p:cNvPr id="15" name="AutoShape 15"/>
          <p:cNvSpPr txBox="1"/>
          <p:nvPr/>
        </p:nvSpPr>
        <p:spPr>
          <a:xfrm>
            <a:off x="2032000" y="3784600"/>
            <a:ext cx="4064000" cy="3556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700" b="1" i="0" u="none" strike="noStrike">
                <a:solidFill>
                  <a:srgbClr val="1A1F1B"/>
                </a:solidFill>
                <a:latin typeface="Inter"/>
                <a:ea typeface="Inter"/>
                <a:cs typeface="Inter"/>
                <a:sym typeface="Inter"/>
              </a:rPr>
              <a:t>Lợi ích kép</a:t>
            </a:r>
            <a:endParaRPr lang="en-US" sz="1100"/>
          </a:p>
        </p:txBody>
      </p:sp>
      <p:sp>
        <p:nvSpPr>
          <p:cNvPr id="16" name="AutoShape 16"/>
          <p:cNvSpPr txBox="1"/>
          <p:nvPr/>
        </p:nvSpPr>
        <p:spPr>
          <a:xfrm>
            <a:off x="2032000" y="4140200"/>
            <a:ext cx="6350000" cy="254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100" b="0" i="0" u="none" strike="noStrike">
                <a:solidFill>
                  <a:srgbClr val="787C74"/>
                </a:solidFill>
                <a:latin typeface="Inter"/>
                <a:ea typeface="Inter"/>
                <a:cs typeface="Inter"/>
                <a:sym typeface="Inter"/>
              </a:rPr>
              <a:t>Tăng trưởng kinh tế &amp; hồi phục môi trường</a:t>
            </a:r>
            <a:endParaRPr lang="en-US" sz="1100"/>
          </a:p>
        </p:txBody>
      </p:sp>
      <p:cxnSp>
        <p:nvCxnSpPr>
          <p:cNvPr id="17" name="Connector 17"/>
          <p:cNvCxnSpPr/>
          <p:nvPr/>
        </p:nvCxnSpPr>
        <p:spPr>
          <a:xfrm rot="-4131">
            <a:off x="812804" y="4489450"/>
            <a:ext cx="10566400" cy="12700"/>
          </a:xfrm>
          <a:prstGeom prst="straightConnector1">
            <a:avLst/>
          </a:prstGeom>
          <a:solidFill>
            <a:srgbClr val="DEE0E3">
              <a:alpha val="100000"/>
            </a:srgbClr>
          </a:solidFill>
          <a:ln w="12700" cap="flat" cmpd="sng">
            <a:solidFill>
              <a:srgbClr val="E4E2DA">
                <a:alpha val="100000"/>
              </a:srgbClr>
            </a:solidFill>
            <a:prstDash val="solid"/>
            <a:round/>
            <a:headEnd type="none" w="med" len="med"/>
            <a:tailEnd type="none" w="med" len="med"/>
          </a:ln>
        </p:spPr>
      </p:cxnSp>
      <p:sp>
        <p:nvSpPr>
          <p:cNvPr id="18" name="AutoShape 18"/>
          <p:cNvSpPr txBox="1"/>
          <p:nvPr/>
        </p:nvSpPr>
        <p:spPr>
          <a:xfrm>
            <a:off x="812800" y="4622800"/>
            <a:ext cx="1016000" cy="6096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3400" b="1" i="0" u="none" strike="noStrike">
                <a:solidFill>
                  <a:srgbClr val="1B4D3E">
                    <a:alpha val="34902"/>
                  </a:srgbClr>
                </a:solidFill>
                <a:latin typeface="Playfair Display"/>
                <a:ea typeface="Playfair Display"/>
                <a:cs typeface="Playfair Display"/>
                <a:sym typeface="Playfair Display"/>
              </a:rPr>
              <a:t>04</a:t>
            </a:r>
            <a:endParaRPr lang="en-US" sz="1100"/>
          </a:p>
        </p:txBody>
      </p:sp>
      <p:sp>
        <p:nvSpPr>
          <p:cNvPr id="19" name="AutoShape 19"/>
          <p:cNvSpPr txBox="1"/>
          <p:nvPr/>
        </p:nvSpPr>
        <p:spPr>
          <a:xfrm>
            <a:off x="2032000" y="4673600"/>
            <a:ext cx="4064000" cy="3556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700" b="1" i="0" u="none" strike="noStrike">
                <a:solidFill>
                  <a:srgbClr val="1A1F1B"/>
                </a:solidFill>
                <a:latin typeface="Inter"/>
                <a:ea typeface="Inter"/>
                <a:cs typeface="Inter"/>
                <a:sym typeface="Inter"/>
              </a:rPr>
              <a:t>Tầm nhìn 2050</a:t>
            </a:r>
            <a:endParaRPr lang="en-US" sz="1100"/>
          </a:p>
        </p:txBody>
      </p:sp>
      <p:sp>
        <p:nvSpPr>
          <p:cNvPr id="20" name="AutoShape 20"/>
          <p:cNvSpPr txBox="1"/>
          <p:nvPr/>
        </p:nvSpPr>
        <p:spPr>
          <a:xfrm>
            <a:off x="2032000" y="5029200"/>
            <a:ext cx="6350000" cy="254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100" b="0" i="0" u="none" strike="noStrike">
                <a:solidFill>
                  <a:srgbClr val="787C74"/>
                </a:solidFill>
                <a:latin typeface="Inter"/>
                <a:ea typeface="Inter"/>
                <a:cs typeface="Inter"/>
                <a:sym typeface="Inter"/>
              </a:rPr>
              <a:t>Lộ trình Net Zero toàn cầu</a:t>
            </a:r>
            <a:endParaRPr lang="en-US" sz="1100"/>
          </a:p>
        </p:txBody>
      </p:sp>
      <p:cxnSp>
        <p:nvCxnSpPr>
          <p:cNvPr id="21" name="Connector 21"/>
          <p:cNvCxnSpPr/>
          <p:nvPr/>
        </p:nvCxnSpPr>
        <p:spPr>
          <a:xfrm rot="-4131">
            <a:off x="812804" y="5378450"/>
            <a:ext cx="10566400" cy="12700"/>
          </a:xfrm>
          <a:prstGeom prst="straightConnector1">
            <a:avLst/>
          </a:prstGeom>
          <a:solidFill>
            <a:srgbClr val="DEE0E3">
              <a:alpha val="100000"/>
            </a:srgbClr>
          </a:solidFill>
          <a:ln w="12700" cap="flat" cmpd="sng">
            <a:solidFill>
              <a:srgbClr val="E4E2DA">
                <a:alpha val="100000"/>
              </a:srgbClr>
            </a:solidFill>
            <a:prstDash val="solid"/>
            <a:round/>
            <a:headEnd type="none" w="med" len="med"/>
            <a:tailEnd type="none" w="med" len="med"/>
          </a:ln>
        </p:spPr>
      </p:cxnSp>
      <p:sp>
        <p:nvSpPr>
          <p:cNvPr id="22" name="AutoShape 22"/>
          <p:cNvSpPr txBox="1"/>
          <p:nvPr/>
        </p:nvSpPr>
        <p:spPr>
          <a:xfrm>
            <a:off x="812800" y="5511800"/>
            <a:ext cx="1016000" cy="6096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3400" b="1" i="0" u="none" strike="noStrike">
                <a:solidFill>
                  <a:srgbClr val="C17B3A"/>
                </a:solidFill>
                <a:latin typeface="Playfair Display"/>
                <a:ea typeface="Playfair Display"/>
                <a:cs typeface="Playfair Display"/>
                <a:sym typeface="Playfair Display"/>
              </a:rPr>
              <a:t>05</a:t>
            </a:r>
            <a:endParaRPr lang="en-US" sz="1100"/>
          </a:p>
        </p:txBody>
      </p:sp>
      <p:sp>
        <p:nvSpPr>
          <p:cNvPr id="23" name="AutoShape 23"/>
          <p:cNvSpPr txBox="1"/>
          <p:nvPr/>
        </p:nvSpPr>
        <p:spPr>
          <a:xfrm>
            <a:off x="2032000" y="5562600"/>
            <a:ext cx="4064000" cy="3556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700" b="1" i="0" u="none" strike="noStrike">
                <a:solidFill>
                  <a:srgbClr val="1A1F1B"/>
                </a:solidFill>
                <a:latin typeface="Inter"/>
                <a:ea typeface="Inter"/>
                <a:cs typeface="Inter"/>
                <a:sym typeface="Inter"/>
              </a:rPr>
              <a:t>Hành động</a:t>
            </a:r>
            <a:endParaRPr lang="en-US" sz="1100"/>
          </a:p>
        </p:txBody>
      </p:sp>
      <p:sp>
        <p:nvSpPr>
          <p:cNvPr id="24" name="AutoShape 24"/>
          <p:cNvSpPr txBox="1"/>
          <p:nvPr/>
        </p:nvSpPr>
        <p:spPr>
          <a:xfrm>
            <a:off x="2032000" y="5918200"/>
            <a:ext cx="6350000" cy="254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100" b="0" i="0" u="none" strike="noStrike">
                <a:solidFill>
                  <a:srgbClr val="787C74"/>
                </a:solidFill>
                <a:latin typeface="Inter"/>
                <a:ea typeface="Inter"/>
                <a:cs typeface="Inter"/>
                <a:sym typeface="Inter"/>
              </a:rPr>
              <a:t>Lời kêu gọi cho chính sách, doanh nghiệp &amp; cá nhân</a:t>
            </a:r>
            <a:endParaRPr lang="en-US" sz="1100"/>
          </a:p>
        </p:txBody>
      </p:sp>
      <p:sp>
        <p:nvSpPr>
          <p:cNvPr id="25" name="AutoShape 25"/>
          <p:cNvSpPr txBox="1"/>
          <p:nvPr/>
        </p:nvSpPr>
        <p:spPr>
          <a:xfrm>
            <a:off x="10668000" y="6451600"/>
            <a:ext cx="711200" cy="203200"/>
          </a:xfrm>
          <a:prstGeom prst="rect">
            <a:avLst/>
          </a:prstGeom>
          <a:noFill/>
          <a:ln w="12700" cap="flat" cmpd="sng">
            <a:noFill/>
            <a:prstDash val="solid"/>
            <a:round/>
          </a:ln>
        </p:spPr>
        <p:txBody>
          <a:bodyPr vert="horz" wrap="none" lIns="0" tIns="0" rIns="0" bIns="0" rtlCol="0" anchor="ctr" anchorCtr="0"/>
          <a:lstStyle/>
          <a:p>
            <a:pPr marL="0" indent="0" algn="r">
              <a:lnSpc>
                <a:spcPct val="125000"/>
              </a:lnSpc>
              <a:defRPr/>
            </a:pPr>
            <a:r>
              <a:rPr lang="en-US" sz="900" b="0" i="0" u="none" strike="noStrike">
                <a:solidFill>
                  <a:srgbClr val="8C8A82"/>
                </a:solidFill>
                <a:latin typeface="Inter"/>
                <a:ea typeface="Inter"/>
                <a:cs typeface="Inter"/>
                <a:sym typeface="Inter"/>
              </a:rPr>
              <a:t>03 / 12</a:t>
            </a:r>
            <a:endParaRPr lang="en-US" sz="110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9F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12800" y="584200"/>
            <a:ext cx="406400" cy="38100"/>
          </a:xfrm>
          <a:prstGeom prst="roundRect">
            <a:avLst>
              <a:gd name="adj" fmla="val 0"/>
            </a:avLst>
          </a:prstGeom>
          <a:solidFill>
            <a:srgbClr val="1B4D3E">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txBox="1"/>
          <p:nvPr/>
        </p:nvSpPr>
        <p:spPr>
          <a:xfrm>
            <a:off x="1320800" y="508000"/>
            <a:ext cx="5080000" cy="2286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000" b="0" i="0" u="none" strike="noStrike">
                <a:solidFill>
                  <a:srgbClr val="1B4D3E"/>
                </a:solidFill>
                <a:latin typeface="Montserrat"/>
                <a:ea typeface="Montserrat"/>
                <a:cs typeface="Montserrat"/>
                <a:sym typeface="Montserrat"/>
              </a:rPr>
              <a:t>01 · BỐI CẢNH</a:t>
            </a:r>
            <a:endParaRPr lang="en-US" sz="1100"/>
          </a:p>
        </p:txBody>
      </p:sp>
      <p:sp>
        <p:nvSpPr>
          <p:cNvPr id="4" name="AutoShape 4"/>
          <p:cNvSpPr txBox="1"/>
          <p:nvPr/>
        </p:nvSpPr>
        <p:spPr>
          <a:xfrm>
            <a:off x="812800" y="863600"/>
            <a:ext cx="10566400" cy="5588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800" b="1" i="0" u="none" strike="noStrike">
                <a:solidFill>
                  <a:srgbClr val="1A1F1B"/>
                </a:solidFill>
                <a:latin typeface="Playfair Display"/>
                <a:ea typeface="Playfair Display"/>
                <a:cs typeface="Playfair Display"/>
                <a:sym typeface="Playfair Display"/>
              </a:rPr>
              <a:t>Ba áp lực buộc phải chuyển dịch</a:t>
            </a:r>
            <a:endParaRPr lang="en-US" sz="1100"/>
          </a:p>
        </p:txBody>
      </p:sp>
      <p:cxnSp>
        <p:nvCxnSpPr>
          <p:cNvPr id="5" name="Connector 5"/>
          <p:cNvCxnSpPr/>
          <p:nvPr/>
        </p:nvCxnSpPr>
        <p:spPr>
          <a:xfrm rot="-4131">
            <a:off x="812804" y="1619250"/>
            <a:ext cx="10566400" cy="12700"/>
          </a:xfrm>
          <a:prstGeom prst="straightConnector1">
            <a:avLst/>
          </a:prstGeom>
          <a:solidFill>
            <a:srgbClr val="DEE0E3">
              <a:alpha val="100000"/>
            </a:srgbClr>
          </a:solidFill>
          <a:ln w="12700" cap="flat" cmpd="sng">
            <a:solidFill>
              <a:srgbClr val="E0DED6">
                <a:alpha val="100000"/>
              </a:srgbClr>
            </a:solidFill>
            <a:prstDash val="solid"/>
            <a:round/>
            <a:headEnd type="none" w="med" len="med"/>
            <a:tailEnd type="none" w="med" len="med"/>
          </a:ln>
        </p:spPr>
      </p:cxnSp>
      <p:cxnSp>
        <p:nvCxnSpPr>
          <p:cNvPr id="6" name="Connector 6"/>
          <p:cNvCxnSpPr/>
          <p:nvPr/>
        </p:nvCxnSpPr>
        <p:spPr>
          <a:xfrm rot="5387722">
            <a:off x="2590800" y="3803661"/>
            <a:ext cx="3556000" cy="12700"/>
          </a:xfrm>
          <a:prstGeom prst="straightConnector1">
            <a:avLst/>
          </a:prstGeom>
          <a:solidFill>
            <a:srgbClr val="DEE0E3">
              <a:alpha val="100000"/>
            </a:srgbClr>
          </a:solidFill>
          <a:ln w="12700" cap="flat" cmpd="sng">
            <a:solidFill>
              <a:srgbClr val="E4E2DA">
                <a:alpha val="100000"/>
              </a:srgbClr>
            </a:solidFill>
            <a:prstDash val="solid"/>
            <a:round/>
            <a:headEnd type="none" w="med" len="med"/>
            <a:tailEnd type="none" w="med" len="med"/>
          </a:ln>
        </p:spPr>
      </p:cxnSp>
      <p:cxnSp>
        <p:nvCxnSpPr>
          <p:cNvPr id="7" name="Connector 7"/>
          <p:cNvCxnSpPr/>
          <p:nvPr/>
        </p:nvCxnSpPr>
        <p:spPr>
          <a:xfrm rot="5387722">
            <a:off x="6299200" y="3803661"/>
            <a:ext cx="3556000" cy="12700"/>
          </a:xfrm>
          <a:prstGeom prst="straightConnector1">
            <a:avLst/>
          </a:prstGeom>
          <a:solidFill>
            <a:srgbClr val="DEE0E3">
              <a:alpha val="100000"/>
            </a:srgbClr>
          </a:solidFill>
          <a:ln w="12700" cap="flat" cmpd="sng">
            <a:solidFill>
              <a:srgbClr val="E4E2DA">
                <a:alpha val="100000"/>
              </a:srgbClr>
            </a:solidFill>
            <a:prstDash val="solid"/>
            <a:round/>
            <a:headEnd type="none" w="med" len="med"/>
            <a:tailEnd type="none" w="med" len="med"/>
          </a:ln>
        </p:spPr>
      </p:cxnSp>
      <p:sp>
        <p:nvSpPr>
          <p:cNvPr id="8" name="AutoShape 8"/>
          <p:cNvSpPr txBox="1"/>
          <p:nvPr/>
        </p:nvSpPr>
        <p:spPr>
          <a:xfrm>
            <a:off x="1016000" y="2159000"/>
            <a:ext cx="762000" cy="7112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4000" b="1" i="0" u="none" strike="noStrike">
                <a:solidFill>
                  <a:srgbClr val="1B4D3E"/>
                </a:solidFill>
                <a:latin typeface="Playfair Display"/>
                <a:ea typeface="Playfair Display"/>
                <a:cs typeface="Playfair Display"/>
                <a:sym typeface="Playfair Display"/>
              </a:rPr>
              <a:t>01</a:t>
            </a:r>
            <a:endParaRPr lang="en-US" sz="1100"/>
          </a:p>
        </p:txBody>
      </p:sp>
      <p:sp>
        <p:nvSpPr>
          <p:cNvPr id="9" name="AutoShape 9"/>
          <p:cNvSpPr txBox="1"/>
          <p:nvPr/>
        </p:nvSpPr>
        <p:spPr>
          <a:xfrm>
            <a:off x="1016000" y="3022600"/>
            <a:ext cx="2921000" cy="381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800" b="1" i="0" u="none" strike="noStrike">
                <a:solidFill>
                  <a:srgbClr val="1A1F1B"/>
                </a:solidFill>
                <a:latin typeface="Inter"/>
                <a:ea typeface="Inter"/>
                <a:cs typeface="Inter"/>
                <a:sym typeface="Inter"/>
              </a:rPr>
              <a:t>Biến đổi khí hậu</a:t>
            </a:r>
            <a:endParaRPr lang="en-US" sz="1100"/>
          </a:p>
        </p:txBody>
      </p:sp>
      <p:cxnSp>
        <p:nvCxnSpPr>
          <p:cNvPr id="10" name="Connector 10"/>
          <p:cNvCxnSpPr/>
          <p:nvPr/>
        </p:nvCxnSpPr>
        <p:spPr>
          <a:xfrm rot="-68745">
            <a:off x="1016063" y="3498850"/>
            <a:ext cx="635000" cy="12700"/>
          </a:xfrm>
          <a:prstGeom prst="straightConnector1">
            <a:avLst/>
          </a:prstGeom>
          <a:solidFill>
            <a:srgbClr val="DEE0E3">
              <a:alpha val="100000"/>
            </a:srgbClr>
          </a:solidFill>
          <a:ln w="25400" cap="flat" cmpd="sng">
            <a:solidFill>
              <a:srgbClr val="C17B3A">
                <a:alpha val="100000"/>
              </a:srgbClr>
            </a:solidFill>
            <a:prstDash val="solid"/>
            <a:round/>
            <a:headEnd type="none" w="lg" len="lg"/>
            <a:tailEnd type="none" w="lg" len="lg"/>
          </a:ln>
        </p:spPr>
      </p:cxnSp>
      <p:sp>
        <p:nvSpPr>
          <p:cNvPr id="11" name="AutoShape 11"/>
          <p:cNvSpPr txBox="1"/>
          <p:nvPr/>
        </p:nvSpPr>
        <p:spPr>
          <a:xfrm>
            <a:off x="1016000" y="3708400"/>
            <a:ext cx="2921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300" b="0" i="0" u="none" strike="noStrike">
                <a:solidFill>
                  <a:srgbClr val="4A524A"/>
                </a:solidFill>
                <a:latin typeface="Inter"/>
                <a:ea typeface="Inter"/>
                <a:cs typeface="Inter"/>
                <a:sym typeface="Inter"/>
              </a:rPr>
              <a:t>Nhiệt độ +1,1°C. Thời tiết cực đoan gia tăng. Ngưỡng 1,5°C còn lại rất ít năm.</a:t>
            </a:r>
            <a:endParaRPr lang="en-US" sz="1100"/>
          </a:p>
        </p:txBody>
      </p:sp>
      <p:sp>
        <p:nvSpPr>
          <p:cNvPr id="12" name="AutoShape 12"/>
          <p:cNvSpPr txBox="1"/>
          <p:nvPr/>
        </p:nvSpPr>
        <p:spPr>
          <a:xfrm>
            <a:off x="4724400" y="2159000"/>
            <a:ext cx="762000" cy="7112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4000" b="1" i="0" u="none" strike="noStrike">
                <a:solidFill>
                  <a:srgbClr val="1E5F8A"/>
                </a:solidFill>
                <a:latin typeface="Playfair Display"/>
                <a:ea typeface="Playfair Display"/>
                <a:cs typeface="Playfair Display"/>
                <a:sym typeface="Playfair Display"/>
              </a:rPr>
              <a:t>02</a:t>
            </a:r>
            <a:endParaRPr lang="en-US" sz="1100"/>
          </a:p>
        </p:txBody>
      </p:sp>
      <p:sp>
        <p:nvSpPr>
          <p:cNvPr id="13" name="AutoShape 13"/>
          <p:cNvSpPr txBox="1"/>
          <p:nvPr/>
        </p:nvSpPr>
        <p:spPr>
          <a:xfrm>
            <a:off x="4724400" y="3022600"/>
            <a:ext cx="2921000" cy="381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800" b="1" i="0" u="none" strike="noStrike">
                <a:solidFill>
                  <a:srgbClr val="1A1F1B"/>
                </a:solidFill>
                <a:latin typeface="Inter"/>
                <a:ea typeface="Inter"/>
                <a:cs typeface="Inter"/>
                <a:sym typeface="Inter"/>
              </a:rPr>
              <a:t>Hóa thạch hữu hạn</a:t>
            </a:r>
            <a:endParaRPr lang="en-US" sz="1100"/>
          </a:p>
        </p:txBody>
      </p:sp>
      <p:cxnSp>
        <p:nvCxnSpPr>
          <p:cNvPr id="14" name="Connector 14"/>
          <p:cNvCxnSpPr/>
          <p:nvPr/>
        </p:nvCxnSpPr>
        <p:spPr>
          <a:xfrm rot="-68745">
            <a:off x="4724463" y="3498850"/>
            <a:ext cx="635000" cy="12700"/>
          </a:xfrm>
          <a:prstGeom prst="straightConnector1">
            <a:avLst/>
          </a:prstGeom>
          <a:solidFill>
            <a:srgbClr val="DEE0E3">
              <a:alpha val="100000"/>
            </a:srgbClr>
          </a:solidFill>
          <a:ln w="25400" cap="flat" cmpd="sng">
            <a:solidFill>
              <a:srgbClr val="C17B3A">
                <a:alpha val="100000"/>
              </a:srgbClr>
            </a:solidFill>
            <a:prstDash val="solid"/>
            <a:round/>
            <a:headEnd type="none" w="lg" len="lg"/>
            <a:tailEnd type="none" w="lg" len="lg"/>
          </a:ln>
        </p:spPr>
      </p:cxnSp>
      <p:sp>
        <p:nvSpPr>
          <p:cNvPr id="15" name="AutoShape 15"/>
          <p:cNvSpPr txBox="1"/>
          <p:nvPr/>
        </p:nvSpPr>
        <p:spPr>
          <a:xfrm>
            <a:off x="4724400" y="3708400"/>
            <a:ext cx="2921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300" b="0" i="0" u="none" strike="noStrike">
                <a:solidFill>
                  <a:srgbClr val="4A524A"/>
                </a:solidFill>
                <a:latin typeface="Inter"/>
                <a:ea typeface="Inter"/>
                <a:cs typeface="Inter"/>
                <a:sym typeface="Inter"/>
              </a:rPr>
              <a:t>Giá biến động mạnh. Dự trữ không tái tạo. Chi phí xã hội ngày càng cao.</a:t>
            </a:r>
            <a:endParaRPr lang="en-US" sz="1100"/>
          </a:p>
        </p:txBody>
      </p:sp>
      <p:sp>
        <p:nvSpPr>
          <p:cNvPr id="16" name="AutoShape 16"/>
          <p:cNvSpPr txBox="1"/>
          <p:nvPr/>
        </p:nvSpPr>
        <p:spPr>
          <a:xfrm>
            <a:off x="8432800" y="2159000"/>
            <a:ext cx="762000" cy="7112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4000" b="1" i="0" u="none" strike="noStrike">
                <a:solidFill>
                  <a:srgbClr val="C17B3A"/>
                </a:solidFill>
                <a:latin typeface="Playfair Display"/>
                <a:ea typeface="Playfair Display"/>
                <a:cs typeface="Playfair Display"/>
                <a:sym typeface="Playfair Display"/>
              </a:rPr>
              <a:t>03</a:t>
            </a:r>
            <a:endParaRPr lang="en-US" sz="1100"/>
          </a:p>
        </p:txBody>
      </p:sp>
      <p:sp>
        <p:nvSpPr>
          <p:cNvPr id="17" name="AutoShape 17"/>
          <p:cNvSpPr txBox="1"/>
          <p:nvPr/>
        </p:nvSpPr>
        <p:spPr>
          <a:xfrm>
            <a:off x="8432800" y="3022600"/>
            <a:ext cx="2921000" cy="381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800" b="1" i="0" u="none" strike="noStrike">
                <a:solidFill>
                  <a:srgbClr val="1A1F1B"/>
                </a:solidFill>
                <a:latin typeface="Inter"/>
                <a:ea typeface="Inter"/>
                <a:cs typeface="Inter"/>
                <a:sym typeface="Inter"/>
              </a:rPr>
              <a:t>An ninh năng lượng</a:t>
            </a:r>
            <a:endParaRPr lang="en-US" sz="1100"/>
          </a:p>
        </p:txBody>
      </p:sp>
      <p:cxnSp>
        <p:nvCxnSpPr>
          <p:cNvPr id="18" name="Connector 18"/>
          <p:cNvCxnSpPr/>
          <p:nvPr/>
        </p:nvCxnSpPr>
        <p:spPr>
          <a:xfrm rot="-68745">
            <a:off x="8432863" y="3498850"/>
            <a:ext cx="635000" cy="12700"/>
          </a:xfrm>
          <a:prstGeom prst="straightConnector1">
            <a:avLst/>
          </a:prstGeom>
          <a:solidFill>
            <a:srgbClr val="DEE0E3">
              <a:alpha val="100000"/>
            </a:srgbClr>
          </a:solidFill>
          <a:ln w="25400" cap="flat" cmpd="sng">
            <a:solidFill>
              <a:srgbClr val="C17B3A">
                <a:alpha val="100000"/>
              </a:srgbClr>
            </a:solidFill>
            <a:prstDash val="solid"/>
            <a:round/>
            <a:headEnd type="none" w="lg" len="lg"/>
            <a:tailEnd type="none" w="lg" len="lg"/>
          </a:ln>
        </p:spPr>
      </p:cxnSp>
      <p:sp>
        <p:nvSpPr>
          <p:cNvPr id="19" name="AutoShape 19"/>
          <p:cNvSpPr txBox="1"/>
          <p:nvPr/>
        </p:nvSpPr>
        <p:spPr>
          <a:xfrm>
            <a:off x="8432800" y="3708400"/>
            <a:ext cx="2921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300" b="0" i="0" u="none" strike="noStrike">
                <a:solidFill>
                  <a:srgbClr val="4A524A"/>
                </a:solidFill>
                <a:latin typeface="Inter"/>
                <a:ea typeface="Inter"/>
                <a:cs typeface="Inter"/>
                <a:sym typeface="Inter"/>
              </a:rPr>
              <a:t>Phụ thuộc chuỗi cung ứng toàn cầu. Rủi ro gián đoạn. Năng lượng cần bản địa hóa.</a:t>
            </a:r>
            <a:endParaRPr lang="en-US" sz="1100"/>
          </a:p>
        </p:txBody>
      </p:sp>
      <p:sp>
        <p:nvSpPr>
          <p:cNvPr id="20" name="AutoShape 20"/>
          <p:cNvSpPr txBox="1"/>
          <p:nvPr/>
        </p:nvSpPr>
        <p:spPr>
          <a:xfrm>
            <a:off x="812800" y="6451600"/>
            <a:ext cx="7620000" cy="2032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900" b="0" i="0" u="none" strike="noStrike">
                <a:solidFill>
                  <a:srgbClr val="8C8A82"/>
                </a:solidFill>
                <a:latin typeface="Inter"/>
                <a:ea typeface="Inter"/>
                <a:cs typeface="Inter"/>
                <a:sym typeface="Inter"/>
              </a:rPr>
              <a:t>Nguồn: IPCC AR6 · IEA World Energy Outlook</a:t>
            </a:r>
            <a:endParaRPr lang="en-US" sz="1100"/>
          </a:p>
        </p:txBody>
      </p:sp>
      <p:sp>
        <p:nvSpPr>
          <p:cNvPr id="21" name="AutoShape 21"/>
          <p:cNvSpPr txBox="1"/>
          <p:nvPr/>
        </p:nvSpPr>
        <p:spPr>
          <a:xfrm>
            <a:off x="10668000" y="6451600"/>
            <a:ext cx="711200" cy="203200"/>
          </a:xfrm>
          <a:prstGeom prst="rect">
            <a:avLst/>
          </a:prstGeom>
          <a:noFill/>
          <a:ln w="12700" cap="flat" cmpd="sng">
            <a:noFill/>
            <a:prstDash val="solid"/>
            <a:round/>
          </a:ln>
        </p:spPr>
        <p:txBody>
          <a:bodyPr vert="horz" wrap="none" lIns="0" tIns="0" rIns="0" bIns="0" rtlCol="0" anchor="ctr" anchorCtr="0"/>
          <a:lstStyle/>
          <a:p>
            <a:pPr marL="0" indent="0" algn="r">
              <a:lnSpc>
                <a:spcPct val="125000"/>
              </a:lnSpc>
              <a:defRPr/>
            </a:pPr>
            <a:r>
              <a:rPr lang="en-US" sz="900" b="0" i="0" u="none" strike="noStrike">
                <a:solidFill>
                  <a:srgbClr val="8C8A82"/>
                </a:solidFill>
                <a:latin typeface="Inter"/>
                <a:ea typeface="Inter"/>
                <a:cs typeface="Inter"/>
                <a:sym typeface="Inter"/>
              </a:rPr>
              <a:t>04 / 12</a:t>
            </a:r>
            <a:endParaRPr lang="en-US" sz="110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9F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12800" y="584200"/>
            <a:ext cx="406400" cy="38100"/>
          </a:xfrm>
          <a:prstGeom prst="roundRect">
            <a:avLst>
              <a:gd name="adj" fmla="val 0"/>
            </a:avLst>
          </a:prstGeom>
          <a:solidFill>
            <a:srgbClr val="1B4D3E">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txBox="1"/>
          <p:nvPr/>
        </p:nvSpPr>
        <p:spPr>
          <a:xfrm>
            <a:off x="1320800" y="508000"/>
            <a:ext cx="6350000" cy="2286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000" b="0" i="0" u="none" strike="noStrike">
                <a:solidFill>
                  <a:srgbClr val="1B4D3E"/>
                </a:solidFill>
                <a:latin typeface="Montserrat"/>
                <a:ea typeface="Montserrat"/>
                <a:cs typeface="Montserrat"/>
                <a:sym typeface="Montserrat"/>
              </a:rPr>
              <a:t>02 · CÔNG NGHỆ CỐT LÕI</a:t>
            </a:r>
            <a:endParaRPr lang="en-US" sz="1100"/>
          </a:p>
        </p:txBody>
      </p:sp>
      <p:sp>
        <p:nvSpPr>
          <p:cNvPr id="4" name="AutoShape 4"/>
          <p:cNvSpPr txBox="1"/>
          <p:nvPr/>
        </p:nvSpPr>
        <p:spPr>
          <a:xfrm>
            <a:off x="812800" y="863600"/>
            <a:ext cx="10566400" cy="5588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800" b="1" i="0" u="none" strike="noStrike">
                <a:solidFill>
                  <a:srgbClr val="1A1F1B"/>
                </a:solidFill>
                <a:latin typeface="Playfair Display"/>
                <a:ea typeface="Playfair Display"/>
                <a:cs typeface="Playfair Display"/>
                <a:sym typeface="Playfair Display"/>
              </a:rPr>
              <a:t>Ba trụ cột của năng lượng sạch</a:t>
            </a:r>
            <a:endParaRPr lang="en-US" sz="1100"/>
          </a:p>
        </p:txBody>
      </p:sp>
      <p:cxnSp>
        <p:nvCxnSpPr>
          <p:cNvPr id="5" name="Connector 5"/>
          <p:cNvCxnSpPr/>
          <p:nvPr/>
        </p:nvCxnSpPr>
        <p:spPr>
          <a:xfrm rot="-4131">
            <a:off x="812804" y="1619250"/>
            <a:ext cx="10566400" cy="12700"/>
          </a:xfrm>
          <a:prstGeom prst="straightConnector1">
            <a:avLst/>
          </a:prstGeom>
          <a:solidFill>
            <a:srgbClr val="DEE0E3">
              <a:alpha val="100000"/>
            </a:srgbClr>
          </a:solidFill>
          <a:ln w="12700" cap="flat" cmpd="sng">
            <a:solidFill>
              <a:srgbClr val="E0DED6">
                <a:alpha val="100000"/>
              </a:srgbClr>
            </a:solidFill>
            <a:prstDash val="solid"/>
            <a:round/>
            <a:headEnd type="none" w="med" len="med"/>
            <a:tailEnd type="none" w="med" len="med"/>
          </a:ln>
        </p:spPr>
      </p:cxnSp>
      <p:cxnSp>
        <p:nvCxnSpPr>
          <p:cNvPr id="6" name="Connector 6"/>
          <p:cNvCxnSpPr/>
          <p:nvPr/>
        </p:nvCxnSpPr>
        <p:spPr>
          <a:xfrm rot="5388540">
            <a:off x="2463800" y="3803661"/>
            <a:ext cx="3810000" cy="12700"/>
          </a:xfrm>
          <a:prstGeom prst="straightConnector1">
            <a:avLst/>
          </a:prstGeom>
          <a:solidFill>
            <a:srgbClr val="DEE0E3">
              <a:alpha val="100000"/>
            </a:srgbClr>
          </a:solidFill>
          <a:ln w="12700" cap="flat" cmpd="sng">
            <a:solidFill>
              <a:srgbClr val="E4E2DA">
                <a:alpha val="100000"/>
              </a:srgbClr>
            </a:solidFill>
            <a:prstDash val="solid"/>
            <a:round/>
            <a:headEnd type="none" w="med" len="med"/>
            <a:tailEnd type="none" w="med" len="med"/>
          </a:ln>
        </p:spPr>
      </p:cxnSp>
      <p:cxnSp>
        <p:nvCxnSpPr>
          <p:cNvPr id="7" name="Connector 7"/>
          <p:cNvCxnSpPr/>
          <p:nvPr/>
        </p:nvCxnSpPr>
        <p:spPr>
          <a:xfrm rot="5388540">
            <a:off x="6172200" y="3803661"/>
            <a:ext cx="3810000" cy="12700"/>
          </a:xfrm>
          <a:prstGeom prst="straightConnector1">
            <a:avLst/>
          </a:prstGeom>
          <a:solidFill>
            <a:srgbClr val="DEE0E3">
              <a:alpha val="100000"/>
            </a:srgbClr>
          </a:solidFill>
          <a:ln w="12700" cap="flat" cmpd="sng">
            <a:solidFill>
              <a:srgbClr val="E4E2DA">
                <a:alpha val="100000"/>
              </a:srgbClr>
            </a:solidFill>
            <a:prstDash val="solid"/>
            <a:round/>
            <a:headEnd type="none" w="med" len="med"/>
            <a:tailEnd type="none" w="med" len="med"/>
          </a:ln>
        </p:spPr>
      </p:cxnSp>
      <p:sp>
        <p:nvSpPr>
          <p:cNvPr id="8" name="AutoShape 8"/>
          <p:cNvSpPr txBox="1"/>
          <p:nvPr/>
        </p:nvSpPr>
        <p:spPr>
          <a:xfrm>
            <a:off x="1016000" y="2057400"/>
            <a:ext cx="2921000" cy="254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000" b="0" i="0" u="none" strike="noStrike">
                <a:solidFill>
                  <a:srgbClr val="1B4D3E"/>
                </a:solidFill>
                <a:latin typeface="Montserrat"/>
                <a:ea typeface="Montserrat"/>
                <a:cs typeface="Montserrat"/>
                <a:sym typeface="Montserrat"/>
              </a:rPr>
              <a:t>ĐIỆN MẶT TRỜI</a:t>
            </a:r>
            <a:endParaRPr lang="en-US" sz="1100"/>
          </a:p>
        </p:txBody>
      </p:sp>
      <p:sp>
        <p:nvSpPr>
          <p:cNvPr id="9" name="AutoShape 9"/>
          <p:cNvSpPr txBox="1"/>
          <p:nvPr/>
        </p:nvSpPr>
        <p:spPr>
          <a:xfrm>
            <a:off x="1016000" y="2413000"/>
            <a:ext cx="2921000" cy="6604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3400" b="1" i="0" u="none" strike="noStrike">
                <a:solidFill>
                  <a:srgbClr val="1A1F1B"/>
                </a:solidFill>
                <a:latin typeface="Montserrat"/>
                <a:ea typeface="Montserrat"/>
                <a:cs typeface="Montserrat"/>
                <a:sym typeface="Montserrat"/>
              </a:rPr>
              <a:t>1.500+ GW</a:t>
            </a:r>
            <a:endParaRPr lang="en-US" sz="1100"/>
          </a:p>
        </p:txBody>
      </p:sp>
      <p:sp>
        <p:nvSpPr>
          <p:cNvPr id="10" name="AutoShape 10"/>
          <p:cNvSpPr txBox="1"/>
          <p:nvPr/>
        </p:nvSpPr>
        <p:spPr>
          <a:xfrm>
            <a:off x="1016000" y="3124200"/>
            <a:ext cx="2921000" cy="254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100" b="0" i="0" u="none" strike="noStrike">
                <a:solidFill>
                  <a:srgbClr val="787C74"/>
                </a:solidFill>
                <a:latin typeface="Inter"/>
                <a:ea typeface="Inter"/>
                <a:cs typeface="Inter"/>
                <a:sym typeface="Inter"/>
              </a:rPr>
              <a:t>công suất đã lắp đặt toàn cầu</a:t>
            </a:r>
            <a:endParaRPr lang="en-US" sz="1100"/>
          </a:p>
        </p:txBody>
      </p:sp>
      <p:cxnSp>
        <p:nvCxnSpPr>
          <p:cNvPr id="11" name="Connector 11"/>
          <p:cNvCxnSpPr/>
          <p:nvPr/>
        </p:nvCxnSpPr>
        <p:spPr>
          <a:xfrm rot="-16370">
            <a:off x="1016015" y="3575050"/>
            <a:ext cx="2667000" cy="12700"/>
          </a:xfrm>
          <a:prstGeom prst="straightConnector1">
            <a:avLst/>
          </a:prstGeom>
          <a:solidFill>
            <a:srgbClr val="DEE0E3">
              <a:alpha val="100000"/>
            </a:srgbClr>
          </a:solidFill>
          <a:ln w="12700" cap="flat" cmpd="sng">
            <a:solidFill>
              <a:srgbClr val="E0DED6">
                <a:alpha val="100000"/>
              </a:srgbClr>
            </a:solidFill>
            <a:prstDash val="solid"/>
            <a:round/>
            <a:headEnd type="none" w="med" len="med"/>
            <a:tailEnd type="none" w="med" len="med"/>
          </a:ln>
        </p:spPr>
      </p:cxnSp>
      <p:sp>
        <p:nvSpPr>
          <p:cNvPr id="12" name="AutoShape 12"/>
          <p:cNvSpPr txBox="1"/>
          <p:nvPr/>
        </p:nvSpPr>
        <p:spPr>
          <a:xfrm>
            <a:off x="1016000" y="3784600"/>
            <a:ext cx="2921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300" b="0" i="0" u="none" strike="noStrike">
                <a:solidFill>
                  <a:srgbClr val="4A524A"/>
                </a:solidFill>
                <a:latin typeface="Inter"/>
                <a:ea typeface="Inter"/>
                <a:cs typeface="Inter"/>
                <a:sym typeface="Inter"/>
              </a:rPr>
              <a:t>— Nguồn điện rẻ nhất lịch sử</a:t>
            </a:r>
            <a:endParaRPr lang="en-US" sz="1100"/>
          </a:p>
          <a:p>
            <a:pPr marL="0" indent="0" algn="l">
              <a:lnSpc>
                <a:spcPct val="142000"/>
              </a:lnSpc>
            </a:pPr>
            <a:r>
              <a:rPr lang="en-US" sz="1300" b="0" i="0" u="none" strike="noStrike">
                <a:solidFill>
                  <a:srgbClr val="4A524A"/>
                </a:solidFill>
                <a:latin typeface="Inter"/>
                <a:ea typeface="Inter"/>
                <a:cs typeface="Inter"/>
                <a:sym typeface="Inter"/>
              </a:rPr>
              <a:t>— Phủ sóng từ mái nhà đến công viên GW</a:t>
            </a:r>
            <a:endParaRPr lang="en-US" sz="1300" b="0" i="0" u="none" strike="noStrike">
              <a:solidFill>
                <a:srgbClr val="4A524A"/>
              </a:solidFill>
              <a:latin typeface="Inter"/>
              <a:ea typeface="Inter"/>
              <a:cs typeface="Inter"/>
              <a:sym typeface="Inter"/>
            </a:endParaRPr>
          </a:p>
        </p:txBody>
      </p:sp>
      <p:sp>
        <p:nvSpPr>
          <p:cNvPr id="13" name="AutoShape 13"/>
          <p:cNvSpPr txBox="1"/>
          <p:nvPr/>
        </p:nvSpPr>
        <p:spPr>
          <a:xfrm>
            <a:off x="4724400" y="2057400"/>
            <a:ext cx="2921000" cy="254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000" b="0" i="0" u="none" strike="noStrike">
                <a:solidFill>
                  <a:srgbClr val="1E5F8A"/>
                </a:solidFill>
                <a:latin typeface="Montserrat"/>
                <a:ea typeface="Montserrat"/>
                <a:cs typeface="Montserrat"/>
                <a:sym typeface="Montserrat"/>
              </a:rPr>
              <a:t>ĐIỆN GIÓ</a:t>
            </a:r>
            <a:endParaRPr lang="en-US" sz="1100"/>
          </a:p>
        </p:txBody>
      </p:sp>
      <p:sp>
        <p:nvSpPr>
          <p:cNvPr id="14" name="AutoShape 14"/>
          <p:cNvSpPr txBox="1"/>
          <p:nvPr/>
        </p:nvSpPr>
        <p:spPr>
          <a:xfrm>
            <a:off x="4724400" y="2413000"/>
            <a:ext cx="2921000" cy="6604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3400" b="1" i="0" u="none" strike="noStrike">
                <a:solidFill>
                  <a:srgbClr val="1A1F1B"/>
                </a:solidFill>
                <a:latin typeface="Montserrat"/>
                <a:ea typeface="Montserrat"/>
                <a:cs typeface="Montserrat"/>
                <a:sym typeface="Montserrat"/>
              </a:rPr>
              <a:t>1.000+ GW</a:t>
            </a:r>
            <a:endParaRPr lang="en-US" sz="1100"/>
          </a:p>
        </p:txBody>
      </p:sp>
      <p:sp>
        <p:nvSpPr>
          <p:cNvPr id="15" name="AutoShape 15"/>
          <p:cNvSpPr txBox="1"/>
          <p:nvPr/>
        </p:nvSpPr>
        <p:spPr>
          <a:xfrm>
            <a:off x="4724400" y="3124200"/>
            <a:ext cx="2921000" cy="254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100" b="0" i="0" u="none" strike="noStrike">
                <a:solidFill>
                  <a:srgbClr val="787C74"/>
                </a:solidFill>
                <a:latin typeface="Inter"/>
                <a:ea typeface="Inter"/>
                <a:cs typeface="Inter"/>
                <a:sym typeface="Inter"/>
              </a:rPr>
              <a:t>toàn cầu, ngoài khơi tăng nhanh</a:t>
            </a:r>
            <a:endParaRPr lang="en-US" sz="1100"/>
          </a:p>
        </p:txBody>
      </p:sp>
      <p:cxnSp>
        <p:nvCxnSpPr>
          <p:cNvPr id="16" name="Connector 16"/>
          <p:cNvCxnSpPr/>
          <p:nvPr/>
        </p:nvCxnSpPr>
        <p:spPr>
          <a:xfrm rot="-16370">
            <a:off x="4724415" y="3575050"/>
            <a:ext cx="2667000" cy="12700"/>
          </a:xfrm>
          <a:prstGeom prst="straightConnector1">
            <a:avLst/>
          </a:prstGeom>
          <a:solidFill>
            <a:srgbClr val="DEE0E3">
              <a:alpha val="100000"/>
            </a:srgbClr>
          </a:solidFill>
          <a:ln w="12700" cap="flat" cmpd="sng">
            <a:solidFill>
              <a:srgbClr val="E0DED6">
                <a:alpha val="100000"/>
              </a:srgbClr>
            </a:solidFill>
            <a:prstDash val="solid"/>
            <a:round/>
            <a:headEnd type="none" w="med" len="med"/>
            <a:tailEnd type="none" w="med" len="med"/>
          </a:ln>
        </p:spPr>
      </p:cxnSp>
      <p:sp>
        <p:nvSpPr>
          <p:cNvPr id="17" name="AutoShape 17"/>
          <p:cNvSpPr txBox="1"/>
          <p:nvPr/>
        </p:nvSpPr>
        <p:spPr>
          <a:xfrm>
            <a:off x="4724400" y="3784600"/>
            <a:ext cx="2921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300" b="0" i="0" u="none" strike="noStrike">
                <a:solidFill>
                  <a:srgbClr val="4A524A"/>
                </a:solidFill>
                <a:latin typeface="Inter"/>
                <a:ea typeface="Inter"/>
                <a:cs typeface="Inter"/>
                <a:sym typeface="Inter"/>
              </a:rPr>
              <a:t>— Ngoài khơi ổn định 24/7</a:t>
            </a:r>
            <a:endParaRPr lang="en-US" sz="1100"/>
          </a:p>
          <a:p>
            <a:pPr marL="0" indent="0" algn="l">
              <a:lnSpc>
                <a:spcPct val="142000"/>
              </a:lnSpc>
            </a:pPr>
            <a:r>
              <a:rPr lang="en-US" sz="1300" b="0" i="0" u="none" strike="noStrike">
                <a:solidFill>
                  <a:srgbClr val="4A524A"/>
                </a:solidFill>
                <a:latin typeface="Inter"/>
                <a:ea typeface="Inter"/>
                <a:cs typeface="Inter"/>
                <a:sym typeface="Inter"/>
              </a:rPr>
              <a:t>— Công suất đơn máy lên đến 18 MW</a:t>
            </a:r>
            <a:endParaRPr lang="en-US" sz="1300" b="0" i="0" u="none" strike="noStrike">
              <a:solidFill>
                <a:srgbClr val="4A524A"/>
              </a:solidFill>
              <a:latin typeface="Inter"/>
              <a:ea typeface="Inter"/>
              <a:cs typeface="Inter"/>
              <a:sym typeface="Inter"/>
            </a:endParaRPr>
          </a:p>
        </p:txBody>
      </p:sp>
      <p:sp>
        <p:nvSpPr>
          <p:cNvPr id="18" name="AutoShape 18"/>
          <p:cNvSpPr txBox="1"/>
          <p:nvPr/>
        </p:nvSpPr>
        <p:spPr>
          <a:xfrm>
            <a:off x="8432800" y="2057400"/>
            <a:ext cx="2921000" cy="254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000" b="0" i="0" u="none" strike="noStrike">
                <a:solidFill>
                  <a:srgbClr val="C17B3A"/>
                </a:solidFill>
                <a:latin typeface="Montserrat"/>
                <a:ea typeface="Montserrat"/>
                <a:cs typeface="Montserrat"/>
                <a:sym typeface="Montserrat"/>
              </a:rPr>
              <a:t>HYDROGEN XANH</a:t>
            </a:r>
            <a:endParaRPr lang="en-US" sz="1100"/>
          </a:p>
        </p:txBody>
      </p:sp>
      <p:sp>
        <p:nvSpPr>
          <p:cNvPr id="19" name="AutoShape 19"/>
          <p:cNvSpPr txBox="1"/>
          <p:nvPr/>
        </p:nvSpPr>
        <p:spPr>
          <a:xfrm>
            <a:off x="8432800" y="2413000"/>
            <a:ext cx="2921000" cy="6604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3400" b="1" i="0" u="none" strike="noStrike">
                <a:solidFill>
                  <a:srgbClr val="1A1F1B"/>
                </a:solidFill>
                <a:latin typeface="Montserrat"/>
                <a:ea typeface="Montserrat"/>
                <a:cs typeface="Montserrat"/>
                <a:sym typeface="Montserrat"/>
              </a:rPr>
              <a:t>0 g CO₂</a:t>
            </a:r>
            <a:endParaRPr lang="en-US" sz="1100"/>
          </a:p>
        </p:txBody>
      </p:sp>
      <p:sp>
        <p:nvSpPr>
          <p:cNvPr id="20" name="AutoShape 20"/>
          <p:cNvSpPr txBox="1"/>
          <p:nvPr/>
        </p:nvSpPr>
        <p:spPr>
          <a:xfrm>
            <a:off x="8432800" y="3124200"/>
            <a:ext cx="2921000" cy="254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100" b="0" i="0" u="none" strike="noStrike">
                <a:solidFill>
                  <a:srgbClr val="787C74"/>
                </a:solidFill>
                <a:latin typeface="Inter"/>
                <a:ea typeface="Inter"/>
                <a:cs typeface="Inter"/>
                <a:sym typeface="Inter"/>
              </a:rPr>
              <a:t>phát thải tại điểm sử dụng</a:t>
            </a:r>
            <a:endParaRPr lang="en-US" sz="1100"/>
          </a:p>
        </p:txBody>
      </p:sp>
      <p:cxnSp>
        <p:nvCxnSpPr>
          <p:cNvPr id="21" name="Connector 21"/>
          <p:cNvCxnSpPr/>
          <p:nvPr/>
        </p:nvCxnSpPr>
        <p:spPr>
          <a:xfrm rot="-16370">
            <a:off x="8432815" y="3575050"/>
            <a:ext cx="2667000" cy="12700"/>
          </a:xfrm>
          <a:prstGeom prst="straightConnector1">
            <a:avLst/>
          </a:prstGeom>
          <a:solidFill>
            <a:srgbClr val="DEE0E3">
              <a:alpha val="100000"/>
            </a:srgbClr>
          </a:solidFill>
          <a:ln w="12700" cap="flat" cmpd="sng">
            <a:solidFill>
              <a:srgbClr val="E0DED6">
                <a:alpha val="100000"/>
              </a:srgbClr>
            </a:solidFill>
            <a:prstDash val="solid"/>
            <a:round/>
            <a:headEnd type="none" w="med" len="med"/>
            <a:tailEnd type="none" w="med" len="med"/>
          </a:ln>
        </p:spPr>
      </p:cxnSp>
      <p:sp>
        <p:nvSpPr>
          <p:cNvPr id="22" name="AutoShape 22"/>
          <p:cNvSpPr txBox="1"/>
          <p:nvPr/>
        </p:nvSpPr>
        <p:spPr>
          <a:xfrm>
            <a:off x="8432800" y="3784600"/>
            <a:ext cx="2921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300" b="0" i="0" u="none" strike="noStrike">
                <a:solidFill>
                  <a:srgbClr val="4A524A"/>
                </a:solidFill>
                <a:latin typeface="Inter"/>
                <a:ea typeface="Inter"/>
                <a:cs typeface="Inter"/>
                <a:sym typeface="Inter"/>
              </a:rPr>
              <a:t>— Lưu trữ năng lượng dài hạn</a:t>
            </a:r>
            <a:endParaRPr lang="en-US" sz="1100"/>
          </a:p>
          <a:p>
            <a:pPr marL="0" indent="0" algn="l">
              <a:lnSpc>
                <a:spcPct val="142000"/>
              </a:lnSpc>
            </a:pPr>
            <a:r>
              <a:rPr lang="en-US" sz="1300" b="0" i="0" u="none" strike="noStrike">
                <a:solidFill>
                  <a:srgbClr val="4A524A"/>
                </a:solidFill>
                <a:latin typeface="Inter"/>
                <a:ea typeface="Inter"/>
                <a:cs typeface="Inter"/>
                <a:sym typeface="Inter"/>
              </a:rPr>
              <a:t>— Công nghiệp nặng &amp; giao thông xa</a:t>
            </a:r>
            <a:endParaRPr lang="en-US" sz="1300" b="0" i="0" u="none" strike="noStrike">
              <a:solidFill>
                <a:srgbClr val="4A524A"/>
              </a:solidFill>
              <a:latin typeface="Inter"/>
              <a:ea typeface="Inter"/>
              <a:cs typeface="Inter"/>
              <a:sym typeface="Inter"/>
            </a:endParaRPr>
          </a:p>
        </p:txBody>
      </p:sp>
      <p:sp>
        <p:nvSpPr>
          <p:cNvPr id="23" name="AutoShape 23"/>
          <p:cNvSpPr txBox="1"/>
          <p:nvPr/>
        </p:nvSpPr>
        <p:spPr>
          <a:xfrm>
            <a:off x="812800" y="6451600"/>
            <a:ext cx="7620000" cy="2032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900" b="0" i="0" u="none" strike="noStrike">
                <a:solidFill>
                  <a:srgbClr val="8C8A82"/>
                </a:solidFill>
                <a:latin typeface="Inter"/>
                <a:ea typeface="Inter"/>
                <a:cs typeface="Inter"/>
                <a:sym typeface="Inter"/>
              </a:rPr>
              <a:t>Nguồn: IRENA 2025 · IEA Renewables 2025</a:t>
            </a:r>
            <a:endParaRPr lang="en-US" sz="1100"/>
          </a:p>
        </p:txBody>
      </p:sp>
      <p:sp>
        <p:nvSpPr>
          <p:cNvPr id="24" name="AutoShape 24"/>
          <p:cNvSpPr txBox="1"/>
          <p:nvPr/>
        </p:nvSpPr>
        <p:spPr>
          <a:xfrm>
            <a:off x="10668000" y="6451600"/>
            <a:ext cx="711200" cy="203200"/>
          </a:xfrm>
          <a:prstGeom prst="rect">
            <a:avLst/>
          </a:prstGeom>
          <a:noFill/>
          <a:ln w="12700" cap="flat" cmpd="sng">
            <a:noFill/>
            <a:prstDash val="solid"/>
            <a:round/>
          </a:ln>
        </p:spPr>
        <p:txBody>
          <a:bodyPr vert="horz" wrap="none" lIns="0" tIns="0" rIns="0" bIns="0" rtlCol="0" anchor="ctr" anchorCtr="0"/>
          <a:lstStyle/>
          <a:p>
            <a:pPr marL="0" indent="0" algn="r">
              <a:lnSpc>
                <a:spcPct val="125000"/>
              </a:lnSpc>
              <a:defRPr/>
            </a:pPr>
            <a:r>
              <a:rPr lang="en-US" sz="900" b="0" i="0" u="none" strike="noStrike">
                <a:solidFill>
                  <a:srgbClr val="8C8A82"/>
                </a:solidFill>
                <a:latin typeface="Inter"/>
                <a:ea typeface="Inter"/>
                <a:cs typeface="Inter"/>
                <a:sym typeface="Inter"/>
              </a:rPr>
              <a:t>05 / 12</a:t>
            </a:r>
            <a:endParaRPr lang="en-US" sz="110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9F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12800" y="584200"/>
            <a:ext cx="406400" cy="38100"/>
          </a:xfrm>
          <a:prstGeom prst="roundRect">
            <a:avLst>
              <a:gd name="adj" fmla="val 0"/>
            </a:avLst>
          </a:prstGeom>
          <a:solidFill>
            <a:srgbClr val="1B4D3E">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txBox="1"/>
          <p:nvPr/>
        </p:nvSpPr>
        <p:spPr>
          <a:xfrm>
            <a:off x="1320800" y="508000"/>
            <a:ext cx="7620000" cy="2286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000" b="0" i="0" u="none" strike="noStrike">
                <a:solidFill>
                  <a:srgbClr val="1B4D3E"/>
                </a:solidFill>
                <a:latin typeface="Montserrat"/>
                <a:ea typeface="Montserrat"/>
                <a:cs typeface="Montserrat"/>
                <a:sym typeface="Montserrat"/>
              </a:rPr>
              <a:t>02 · CÔNG NGHỆ CỐT LÕI · ĐIỆN MẶT TRỜI</a:t>
            </a:r>
            <a:endParaRPr lang="en-US" sz="1100"/>
          </a:p>
        </p:txBody>
      </p:sp>
      <p:sp>
        <p:nvSpPr>
          <p:cNvPr id="4" name="AutoShape 4"/>
          <p:cNvSpPr txBox="1"/>
          <p:nvPr/>
        </p:nvSpPr>
        <p:spPr>
          <a:xfrm>
            <a:off x="812800" y="863600"/>
            <a:ext cx="10566400" cy="5588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600" b="1" i="0" u="none" strike="noStrike">
                <a:solidFill>
                  <a:srgbClr val="1A1F1B"/>
                </a:solidFill>
                <a:latin typeface="Playfair Display"/>
                <a:ea typeface="Playfair Display"/>
                <a:cs typeface="Playfair Display"/>
                <a:sym typeface="Playfair Display"/>
              </a:rPr>
              <a:t>Mặt trời: Giá rẻ kỷ lục, tăng trưởng nhanh nhất</a:t>
            </a:r>
            <a:endParaRPr lang="en-US" sz="1100"/>
          </a:p>
        </p:txBody>
      </p:sp>
      <p:cxnSp>
        <p:nvCxnSpPr>
          <p:cNvPr id="5" name="Connector 5"/>
          <p:cNvCxnSpPr/>
          <p:nvPr/>
        </p:nvCxnSpPr>
        <p:spPr>
          <a:xfrm rot="-4131">
            <a:off x="812804" y="1619250"/>
            <a:ext cx="10566400" cy="12700"/>
          </a:xfrm>
          <a:prstGeom prst="straightConnector1">
            <a:avLst/>
          </a:prstGeom>
          <a:solidFill>
            <a:srgbClr val="DEE0E3">
              <a:alpha val="100000"/>
            </a:srgbClr>
          </a:solidFill>
          <a:ln w="12700" cap="flat" cmpd="sng">
            <a:solidFill>
              <a:srgbClr val="E0DED6">
                <a:alpha val="100000"/>
              </a:srgbClr>
            </a:solidFill>
            <a:prstDash val="solid"/>
            <a:round/>
            <a:headEnd type="none" w="med" len="med"/>
            <a:tailEnd type="none" w="med" len="med"/>
          </a:ln>
        </p:spPr>
      </p:cxnSp>
      <p:pic>
        <p:nvPicPr>
          <p:cNvPr id="6" name="Picture 6"/>
          <p:cNvPicPr>
            <a:picLocks noChangeAspect="1"/>
          </p:cNvPicPr>
          <p:nvPr/>
        </p:nvPicPr>
        <p:blipFill>
          <a:blip r:embed="rId1"/>
          <a:srcRect l="66" r="66"/>
          <a:stretch>
            <a:fillRect/>
          </a:stretch>
        </p:blipFill>
        <p:spPr>
          <a:xfrm>
            <a:off x="812800" y="1930400"/>
            <a:ext cx="4826000" cy="3619500"/>
          </a:xfrm>
          <a:prstGeom prst="rect">
            <a:avLst/>
          </a:prstGeom>
          <a:noFill/>
          <a:ln w="25400" cap="flat" cmpd="sng">
            <a:noFill/>
            <a:prstDash val="solid"/>
            <a:round/>
          </a:ln>
        </p:spPr>
      </p:pic>
      <p:sp>
        <p:nvSpPr>
          <p:cNvPr id="7" name="AutoShape 7"/>
          <p:cNvSpPr txBox="1"/>
          <p:nvPr/>
        </p:nvSpPr>
        <p:spPr>
          <a:xfrm>
            <a:off x="812800" y="5638800"/>
            <a:ext cx="4826000" cy="2286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000" b="0" i="0" u="none" strike="noStrike">
                <a:solidFill>
                  <a:srgbClr val="787C74"/>
                </a:solidFill>
                <a:latin typeface="Inter"/>
                <a:ea typeface="Inter"/>
                <a:cs typeface="Inter"/>
                <a:sym typeface="Inter"/>
              </a:rPr>
              <a:t>Cánh đồng pin mặt trời — quy mô GW, chi phí giảm mạnh</a:t>
            </a:r>
            <a:endParaRPr lang="en-US" sz="1100"/>
          </a:p>
        </p:txBody>
      </p:sp>
      <p:sp>
        <p:nvSpPr>
          <p:cNvPr id="8" name="AutoShape 8"/>
          <p:cNvSpPr txBox="1"/>
          <p:nvPr/>
        </p:nvSpPr>
        <p:spPr>
          <a:xfrm>
            <a:off x="6223000" y="1930400"/>
            <a:ext cx="5080000" cy="1270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8400" b="1" i="0" u="none" strike="noStrike">
                <a:solidFill>
                  <a:srgbClr val="1B4D3E"/>
                </a:solidFill>
                <a:latin typeface="Anton"/>
                <a:ea typeface="Anton"/>
                <a:cs typeface="Anton"/>
                <a:sym typeface="Anton"/>
              </a:rPr>
              <a:t>−90</a:t>
            </a:r>
            <a:r>
              <a:rPr lang="en-US" sz="8400" b="1" i="0" u="none" strike="noStrike">
                <a:solidFill>
                  <a:srgbClr val="C17B3A"/>
                </a:solidFill>
                <a:latin typeface="Anton"/>
                <a:ea typeface="Anton"/>
                <a:cs typeface="Anton"/>
                <a:sym typeface="Anton"/>
              </a:rPr>
              <a:t>%</a:t>
            </a:r>
            <a:endParaRPr lang="en-US" sz="1100"/>
          </a:p>
        </p:txBody>
      </p:sp>
      <p:sp>
        <p:nvSpPr>
          <p:cNvPr id="9" name="AutoShape 9"/>
          <p:cNvSpPr txBox="1"/>
          <p:nvPr/>
        </p:nvSpPr>
        <p:spPr>
          <a:xfrm>
            <a:off x="6223000" y="3225800"/>
            <a:ext cx="5080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A524A"/>
                </a:solidFill>
                <a:latin typeface="Inter"/>
                <a:ea typeface="Inter"/>
                <a:cs typeface="Inter"/>
                <a:sym typeface="Inter"/>
              </a:rPr>
              <a:t>giá điện mặt trời 2010 → 2024 — rẻ hơn than &amp; khí ở hầu hết thị trường</a:t>
            </a:r>
            <a:endParaRPr lang="en-US" sz="1100"/>
          </a:p>
        </p:txBody>
      </p:sp>
      <p:cxnSp>
        <p:nvCxnSpPr>
          <p:cNvPr id="10" name="Connector 10"/>
          <p:cNvCxnSpPr/>
          <p:nvPr/>
        </p:nvCxnSpPr>
        <p:spPr>
          <a:xfrm rot="-8814">
            <a:off x="6223008" y="3829050"/>
            <a:ext cx="4953000" cy="12700"/>
          </a:xfrm>
          <a:prstGeom prst="straightConnector1">
            <a:avLst/>
          </a:prstGeom>
          <a:solidFill>
            <a:srgbClr val="DEE0E3">
              <a:alpha val="100000"/>
            </a:srgbClr>
          </a:solidFill>
          <a:ln w="12700" cap="flat" cmpd="sng">
            <a:solidFill>
              <a:srgbClr val="E0DED6">
                <a:alpha val="100000"/>
              </a:srgbClr>
            </a:solidFill>
            <a:prstDash val="solid"/>
            <a:round/>
            <a:headEnd type="none" w="med" len="med"/>
            <a:tailEnd type="none" w="med" len="med"/>
          </a:ln>
        </p:spPr>
      </p:cxnSp>
      <p:sp>
        <p:nvSpPr>
          <p:cNvPr id="11" name="AutoShape 11"/>
          <p:cNvSpPr txBox="1"/>
          <p:nvPr/>
        </p:nvSpPr>
        <p:spPr>
          <a:xfrm>
            <a:off x="6223000" y="3987800"/>
            <a:ext cx="1524000" cy="3048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1" i="0" u="none" strike="noStrike">
                <a:solidFill>
                  <a:srgbClr val="1A1F1B"/>
                </a:solidFill>
                <a:latin typeface="Inter"/>
                <a:ea typeface="Inter"/>
                <a:cs typeface="Inter"/>
                <a:sym typeface="Inter"/>
              </a:rPr>
              <a:t>1.500+ GW</a:t>
            </a:r>
            <a:endParaRPr lang="en-US" sz="1100"/>
          </a:p>
        </p:txBody>
      </p:sp>
      <p:sp>
        <p:nvSpPr>
          <p:cNvPr id="12" name="AutoShape 12"/>
          <p:cNvSpPr txBox="1"/>
          <p:nvPr/>
        </p:nvSpPr>
        <p:spPr>
          <a:xfrm>
            <a:off x="7874000" y="3987800"/>
            <a:ext cx="3302000" cy="3048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200" b="0" i="0" u="none" strike="noStrike">
                <a:solidFill>
                  <a:srgbClr val="4A524A"/>
                </a:solidFill>
                <a:latin typeface="Inter"/>
                <a:ea typeface="Inter"/>
                <a:cs typeface="Inter"/>
                <a:sym typeface="Inter"/>
              </a:rPr>
              <a:t>đã lắp đặt toàn cầu</a:t>
            </a:r>
            <a:endParaRPr lang="en-US" sz="1100"/>
          </a:p>
        </p:txBody>
      </p:sp>
      <p:cxnSp>
        <p:nvCxnSpPr>
          <p:cNvPr id="13" name="Connector 13"/>
          <p:cNvCxnSpPr/>
          <p:nvPr/>
        </p:nvCxnSpPr>
        <p:spPr>
          <a:xfrm rot="-8814">
            <a:off x="6223008" y="4387850"/>
            <a:ext cx="4953000" cy="12700"/>
          </a:xfrm>
          <a:prstGeom prst="straightConnector1">
            <a:avLst/>
          </a:prstGeom>
          <a:solidFill>
            <a:srgbClr val="DEE0E3">
              <a:alpha val="100000"/>
            </a:srgbClr>
          </a:solidFill>
          <a:ln w="12700" cap="flat" cmpd="sng">
            <a:solidFill>
              <a:srgbClr val="E0DED6">
                <a:alpha val="100000"/>
              </a:srgbClr>
            </a:solidFill>
            <a:prstDash val="solid"/>
            <a:round/>
            <a:headEnd type="none" w="med" len="med"/>
            <a:tailEnd type="none" w="med" len="med"/>
          </a:ln>
        </p:spPr>
      </p:cxnSp>
      <p:sp>
        <p:nvSpPr>
          <p:cNvPr id="14" name="AutoShape 14"/>
          <p:cNvSpPr txBox="1"/>
          <p:nvPr/>
        </p:nvSpPr>
        <p:spPr>
          <a:xfrm>
            <a:off x="6223000" y="4546600"/>
            <a:ext cx="1524000" cy="3048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1" i="0" u="none" strike="noStrike">
                <a:solidFill>
                  <a:srgbClr val="1A1F1B"/>
                </a:solidFill>
                <a:latin typeface="Inter"/>
                <a:ea typeface="Inter"/>
                <a:cs typeface="Inter"/>
                <a:sym typeface="Inter"/>
              </a:rPr>
              <a:t>Mỗi ngày</a:t>
            </a:r>
            <a:endParaRPr lang="en-US" sz="1100"/>
          </a:p>
        </p:txBody>
      </p:sp>
      <p:sp>
        <p:nvSpPr>
          <p:cNvPr id="15" name="AutoShape 15"/>
          <p:cNvSpPr txBox="1"/>
          <p:nvPr/>
        </p:nvSpPr>
        <p:spPr>
          <a:xfrm>
            <a:off x="7874000" y="4546600"/>
            <a:ext cx="3302000" cy="3048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200" b="0" i="0" u="none" strike="noStrike">
                <a:solidFill>
                  <a:srgbClr val="4A524A"/>
                </a:solidFill>
                <a:latin typeface="Inter"/>
                <a:ea typeface="Inter"/>
                <a:cs typeface="Inter"/>
                <a:sym typeface="Inter"/>
              </a:rPr>
              <a:t>thêm ~1 công viên mặt trời lớn</a:t>
            </a:r>
            <a:endParaRPr lang="en-US" sz="1100"/>
          </a:p>
        </p:txBody>
      </p:sp>
      <p:cxnSp>
        <p:nvCxnSpPr>
          <p:cNvPr id="16" name="Connector 16"/>
          <p:cNvCxnSpPr/>
          <p:nvPr/>
        </p:nvCxnSpPr>
        <p:spPr>
          <a:xfrm rot="-8814">
            <a:off x="6223008" y="4946650"/>
            <a:ext cx="4953000" cy="12700"/>
          </a:xfrm>
          <a:prstGeom prst="straightConnector1">
            <a:avLst/>
          </a:prstGeom>
          <a:solidFill>
            <a:srgbClr val="DEE0E3">
              <a:alpha val="100000"/>
            </a:srgbClr>
          </a:solidFill>
          <a:ln w="12700" cap="flat" cmpd="sng">
            <a:solidFill>
              <a:srgbClr val="E0DED6">
                <a:alpha val="100000"/>
              </a:srgbClr>
            </a:solidFill>
            <a:prstDash val="solid"/>
            <a:round/>
            <a:headEnd type="none" w="med" len="med"/>
            <a:tailEnd type="none" w="med" len="med"/>
          </a:ln>
        </p:spPr>
      </p:cxnSp>
      <p:sp>
        <p:nvSpPr>
          <p:cNvPr id="17" name="AutoShape 17"/>
          <p:cNvSpPr txBox="1"/>
          <p:nvPr/>
        </p:nvSpPr>
        <p:spPr>
          <a:xfrm>
            <a:off x="6223000" y="5105400"/>
            <a:ext cx="1524000" cy="3048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1" i="0" u="none" strike="noStrike">
                <a:solidFill>
                  <a:srgbClr val="1A1F1B"/>
                </a:solidFill>
                <a:latin typeface="Inter"/>
                <a:ea typeface="Inter"/>
                <a:cs typeface="Inter"/>
                <a:sym typeface="Inter"/>
              </a:rPr>
              <a:t>Phủ sóng</a:t>
            </a:r>
            <a:endParaRPr lang="en-US" sz="1100"/>
          </a:p>
        </p:txBody>
      </p:sp>
      <p:sp>
        <p:nvSpPr>
          <p:cNvPr id="18" name="AutoShape 18"/>
          <p:cNvSpPr txBox="1"/>
          <p:nvPr/>
        </p:nvSpPr>
        <p:spPr>
          <a:xfrm>
            <a:off x="7874000" y="5105400"/>
            <a:ext cx="3302000" cy="3048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200" b="0" i="0" u="none" strike="noStrike">
                <a:solidFill>
                  <a:srgbClr val="4A524A"/>
                </a:solidFill>
                <a:latin typeface="Inter"/>
                <a:ea typeface="Inter"/>
                <a:cs typeface="Inter"/>
                <a:sym typeface="Inter"/>
              </a:rPr>
              <a:t>từ mái nhà đến nhà máy điện</a:t>
            </a:r>
            <a:endParaRPr lang="en-US" sz="1100"/>
          </a:p>
        </p:txBody>
      </p:sp>
      <p:sp>
        <p:nvSpPr>
          <p:cNvPr id="19" name="AutoShape 19"/>
          <p:cNvSpPr txBox="1"/>
          <p:nvPr/>
        </p:nvSpPr>
        <p:spPr>
          <a:xfrm>
            <a:off x="812800" y="6451600"/>
            <a:ext cx="7620000" cy="2032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900" b="0" i="0" u="none" strike="noStrike">
                <a:solidFill>
                  <a:srgbClr val="8C8A82"/>
                </a:solidFill>
                <a:latin typeface="Inter"/>
                <a:ea typeface="Inter"/>
                <a:cs typeface="Inter"/>
                <a:sym typeface="Inter"/>
              </a:rPr>
              <a:t>Nguồn: IRENA Renewable Cost Database · IEA</a:t>
            </a:r>
            <a:endParaRPr lang="en-US" sz="1100"/>
          </a:p>
        </p:txBody>
      </p:sp>
      <p:sp>
        <p:nvSpPr>
          <p:cNvPr id="20" name="AutoShape 20"/>
          <p:cNvSpPr txBox="1"/>
          <p:nvPr/>
        </p:nvSpPr>
        <p:spPr>
          <a:xfrm>
            <a:off x="10668000" y="6451600"/>
            <a:ext cx="711200" cy="203200"/>
          </a:xfrm>
          <a:prstGeom prst="rect">
            <a:avLst/>
          </a:prstGeom>
          <a:noFill/>
          <a:ln w="12700" cap="flat" cmpd="sng">
            <a:noFill/>
            <a:prstDash val="solid"/>
            <a:round/>
          </a:ln>
        </p:spPr>
        <p:txBody>
          <a:bodyPr vert="horz" wrap="none" lIns="0" tIns="0" rIns="0" bIns="0" rtlCol="0" anchor="ctr" anchorCtr="0"/>
          <a:lstStyle/>
          <a:p>
            <a:pPr marL="0" indent="0" algn="r">
              <a:lnSpc>
                <a:spcPct val="125000"/>
              </a:lnSpc>
              <a:defRPr/>
            </a:pPr>
            <a:r>
              <a:rPr lang="en-US" sz="900" b="0" i="0" u="none" strike="noStrike">
                <a:solidFill>
                  <a:srgbClr val="8C8A82"/>
                </a:solidFill>
                <a:latin typeface="Inter"/>
                <a:ea typeface="Inter"/>
                <a:cs typeface="Inter"/>
                <a:sym typeface="Inter"/>
              </a:rPr>
              <a:t>06 / 12</a:t>
            </a:r>
            <a:endParaRPr lang="en-US" sz="110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9F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12800" y="584200"/>
            <a:ext cx="406400" cy="38100"/>
          </a:xfrm>
          <a:prstGeom prst="roundRect">
            <a:avLst>
              <a:gd name="adj" fmla="val 0"/>
            </a:avLst>
          </a:prstGeom>
          <a:solidFill>
            <a:srgbClr val="1E5F8A">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txBox="1"/>
          <p:nvPr/>
        </p:nvSpPr>
        <p:spPr>
          <a:xfrm>
            <a:off x="1320800" y="508000"/>
            <a:ext cx="7620000" cy="2286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000" b="0" i="0" u="none" strike="noStrike">
                <a:solidFill>
                  <a:srgbClr val="1E5F8A"/>
                </a:solidFill>
                <a:latin typeface="Montserrat"/>
                <a:ea typeface="Montserrat"/>
                <a:cs typeface="Montserrat"/>
                <a:sym typeface="Montserrat"/>
              </a:rPr>
              <a:t>02 · CÔNG NGHỆ CỐT LÕI · ĐIỆN GIÓ</a:t>
            </a:r>
            <a:endParaRPr lang="en-US" sz="1100"/>
          </a:p>
        </p:txBody>
      </p:sp>
      <p:sp>
        <p:nvSpPr>
          <p:cNvPr id="4" name="AutoShape 4"/>
          <p:cNvSpPr txBox="1"/>
          <p:nvPr/>
        </p:nvSpPr>
        <p:spPr>
          <a:xfrm>
            <a:off x="812800" y="863600"/>
            <a:ext cx="10566400" cy="5588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600" b="1" i="0" u="none" strike="noStrike">
                <a:solidFill>
                  <a:srgbClr val="1A1F1B"/>
                </a:solidFill>
                <a:latin typeface="Playfair Display"/>
                <a:ea typeface="Playfair Display"/>
                <a:cs typeface="Playfair Display"/>
                <a:sym typeface="Playfair Display"/>
              </a:rPr>
              <a:t>Gió ngoài khơi: Mỏ năng lượng trên biển</a:t>
            </a:r>
            <a:endParaRPr lang="en-US" sz="1100"/>
          </a:p>
        </p:txBody>
      </p:sp>
      <p:cxnSp>
        <p:nvCxnSpPr>
          <p:cNvPr id="5" name="Connector 5"/>
          <p:cNvCxnSpPr/>
          <p:nvPr/>
        </p:nvCxnSpPr>
        <p:spPr>
          <a:xfrm rot="-4131">
            <a:off x="812804" y="1619250"/>
            <a:ext cx="10566400" cy="12700"/>
          </a:xfrm>
          <a:prstGeom prst="straightConnector1">
            <a:avLst/>
          </a:prstGeom>
          <a:solidFill>
            <a:srgbClr val="DEE0E3">
              <a:alpha val="100000"/>
            </a:srgbClr>
          </a:solidFill>
          <a:ln w="12700" cap="flat" cmpd="sng">
            <a:solidFill>
              <a:srgbClr val="E0DED6">
                <a:alpha val="100000"/>
              </a:srgbClr>
            </a:solidFill>
            <a:prstDash val="solid"/>
            <a:round/>
            <a:headEnd type="none" w="med" len="med"/>
            <a:tailEnd type="none" w="med" len="med"/>
          </a:ln>
        </p:spPr>
      </p:cxnSp>
      <p:sp>
        <p:nvSpPr>
          <p:cNvPr id="6" name="AutoShape 6"/>
          <p:cNvSpPr txBox="1"/>
          <p:nvPr/>
        </p:nvSpPr>
        <p:spPr>
          <a:xfrm>
            <a:off x="812800" y="1930400"/>
            <a:ext cx="5334000" cy="1270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8400" b="1" i="0" u="none" strike="noStrike">
                <a:solidFill>
                  <a:srgbClr val="1E5F8A"/>
                </a:solidFill>
                <a:latin typeface="Anton"/>
                <a:ea typeface="Anton"/>
                <a:cs typeface="Anton"/>
                <a:sym typeface="Anton"/>
              </a:rPr>
              <a:t>18 MW</a:t>
            </a:r>
            <a:endParaRPr lang="en-US" sz="1100"/>
          </a:p>
        </p:txBody>
      </p:sp>
      <p:sp>
        <p:nvSpPr>
          <p:cNvPr id="7" name="AutoShape 7"/>
          <p:cNvSpPr txBox="1"/>
          <p:nvPr/>
        </p:nvSpPr>
        <p:spPr>
          <a:xfrm>
            <a:off x="812800" y="3225800"/>
            <a:ext cx="5334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A524A"/>
                </a:solidFill>
                <a:latin typeface="Inter"/>
                <a:ea typeface="Inter"/>
                <a:cs typeface="Inter"/>
                <a:sym typeface="Inter"/>
              </a:rPr>
              <a:t>công suất một tuabin hiện đại (2025) — cao gấp ba lần so với mười năm trước</a:t>
            </a:r>
            <a:endParaRPr lang="en-US" sz="1100"/>
          </a:p>
        </p:txBody>
      </p:sp>
      <p:cxnSp>
        <p:nvCxnSpPr>
          <p:cNvPr id="8" name="Connector 8"/>
          <p:cNvCxnSpPr/>
          <p:nvPr/>
        </p:nvCxnSpPr>
        <p:spPr>
          <a:xfrm rot="-8467">
            <a:off x="812808" y="3829050"/>
            <a:ext cx="5156200" cy="12700"/>
          </a:xfrm>
          <a:prstGeom prst="straightConnector1">
            <a:avLst/>
          </a:prstGeom>
          <a:solidFill>
            <a:srgbClr val="DEE0E3">
              <a:alpha val="100000"/>
            </a:srgbClr>
          </a:solidFill>
          <a:ln w="12700" cap="flat" cmpd="sng">
            <a:solidFill>
              <a:srgbClr val="E0DED6">
                <a:alpha val="100000"/>
              </a:srgbClr>
            </a:solidFill>
            <a:prstDash val="solid"/>
            <a:round/>
            <a:headEnd type="none" w="med" len="med"/>
            <a:tailEnd type="none" w="med" len="med"/>
          </a:ln>
        </p:spPr>
      </p:cxnSp>
      <p:sp>
        <p:nvSpPr>
          <p:cNvPr id="9" name="AutoShape 9"/>
          <p:cNvSpPr txBox="1"/>
          <p:nvPr/>
        </p:nvSpPr>
        <p:spPr>
          <a:xfrm>
            <a:off x="812800" y="3987800"/>
            <a:ext cx="1651000" cy="3048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1" i="0" u="none" strike="noStrike">
                <a:solidFill>
                  <a:srgbClr val="1A1F1B"/>
                </a:solidFill>
                <a:latin typeface="Inter"/>
                <a:ea typeface="Inter"/>
                <a:cs typeface="Inter"/>
                <a:sym typeface="Inter"/>
              </a:rPr>
              <a:t>1.000+ GW</a:t>
            </a:r>
            <a:endParaRPr lang="en-US" sz="1100"/>
          </a:p>
        </p:txBody>
      </p:sp>
      <p:sp>
        <p:nvSpPr>
          <p:cNvPr id="10" name="AutoShape 10"/>
          <p:cNvSpPr txBox="1"/>
          <p:nvPr/>
        </p:nvSpPr>
        <p:spPr>
          <a:xfrm>
            <a:off x="2590800" y="3987800"/>
            <a:ext cx="3378200" cy="3048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200" b="0" i="0" u="none" strike="noStrike">
                <a:solidFill>
                  <a:srgbClr val="4A524A"/>
                </a:solidFill>
                <a:latin typeface="Inter"/>
                <a:ea typeface="Inter"/>
                <a:cs typeface="Inter"/>
                <a:sym typeface="Inter"/>
              </a:rPr>
              <a:t>công suất gió toàn cầu</a:t>
            </a:r>
            <a:endParaRPr lang="en-US" sz="1100"/>
          </a:p>
        </p:txBody>
      </p:sp>
      <p:cxnSp>
        <p:nvCxnSpPr>
          <p:cNvPr id="11" name="Connector 11"/>
          <p:cNvCxnSpPr/>
          <p:nvPr/>
        </p:nvCxnSpPr>
        <p:spPr>
          <a:xfrm rot="-8467">
            <a:off x="812808" y="4387850"/>
            <a:ext cx="5156200" cy="12700"/>
          </a:xfrm>
          <a:prstGeom prst="straightConnector1">
            <a:avLst/>
          </a:prstGeom>
          <a:solidFill>
            <a:srgbClr val="DEE0E3">
              <a:alpha val="100000"/>
            </a:srgbClr>
          </a:solidFill>
          <a:ln w="12700" cap="flat" cmpd="sng">
            <a:solidFill>
              <a:srgbClr val="E0DED6">
                <a:alpha val="100000"/>
              </a:srgbClr>
            </a:solidFill>
            <a:prstDash val="solid"/>
            <a:round/>
            <a:headEnd type="none" w="med" len="med"/>
            <a:tailEnd type="none" w="med" len="med"/>
          </a:ln>
        </p:spPr>
      </p:cxnSp>
      <p:sp>
        <p:nvSpPr>
          <p:cNvPr id="12" name="AutoShape 12"/>
          <p:cNvSpPr txBox="1"/>
          <p:nvPr/>
        </p:nvSpPr>
        <p:spPr>
          <a:xfrm>
            <a:off x="812800" y="4546600"/>
            <a:ext cx="1651000" cy="3048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1" i="0" u="none" strike="noStrike">
                <a:solidFill>
                  <a:srgbClr val="1A1F1B"/>
                </a:solidFill>
                <a:latin typeface="Inter"/>
                <a:ea typeface="Inter"/>
                <a:cs typeface="Inter"/>
                <a:sym typeface="Inter"/>
              </a:rPr>
              <a:t>~15.000 hộ</a:t>
            </a:r>
            <a:endParaRPr lang="en-US" sz="1100"/>
          </a:p>
        </p:txBody>
      </p:sp>
      <p:sp>
        <p:nvSpPr>
          <p:cNvPr id="13" name="AutoShape 13"/>
          <p:cNvSpPr txBox="1"/>
          <p:nvPr/>
        </p:nvSpPr>
        <p:spPr>
          <a:xfrm>
            <a:off x="2590800" y="4546600"/>
            <a:ext cx="3378200" cy="3048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200" b="0" i="0" u="none" strike="noStrike">
                <a:solidFill>
                  <a:srgbClr val="4A524A"/>
                </a:solidFill>
                <a:latin typeface="Inter"/>
                <a:ea typeface="Inter"/>
                <a:cs typeface="Inter"/>
                <a:sym typeface="Inter"/>
              </a:rPr>
              <a:t>được cấp điện bởi 1 tuabin 15 MW</a:t>
            </a:r>
            <a:endParaRPr lang="en-US" sz="1100"/>
          </a:p>
        </p:txBody>
      </p:sp>
      <p:cxnSp>
        <p:nvCxnSpPr>
          <p:cNvPr id="14" name="Connector 14"/>
          <p:cNvCxnSpPr/>
          <p:nvPr/>
        </p:nvCxnSpPr>
        <p:spPr>
          <a:xfrm rot="-8467">
            <a:off x="812808" y="4946650"/>
            <a:ext cx="5156200" cy="12700"/>
          </a:xfrm>
          <a:prstGeom prst="straightConnector1">
            <a:avLst/>
          </a:prstGeom>
          <a:solidFill>
            <a:srgbClr val="DEE0E3">
              <a:alpha val="100000"/>
            </a:srgbClr>
          </a:solidFill>
          <a:ln w="12700" cap="flat" cmpd="sng">
            <a:solidFill>
              <a:srgbClr val="E0DED6">
                <a:alpha val="100000"/>
              </a:srgbClr>
            </a:solidFill>
            <a:prstDash val="solid"/>
            <a:round/>
            <a:headEnd type="none" w="med" len="med"/>
            <a:tailEnd type="none" w="med" len="med"/>
          </a:ln>
        </p:spPr>
      </p:cxnSp>
      <p:sp>
        <p:nvSpPr>
          <p:cNvPr id="15" name="AutoShape 15"/>
          <p:cNvSpPr txBox="1"/>
          <p:nvPr/>
        </p:nvSpPr>
        <p:spPr>
          <a:xfrm>
            <a:off x="812800" y="5105400"/>
            <a:ext cx="1651000" cy="3048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1" i="0" u="none" strike="noStrike">
                <a:solidFill>
                  <a:srgbClr val="C17B3A"/>
                </a:solidFill>
                <a:latin typeface="Inter"/>
                <a:ea typeface="Inter"/>
                <a:cs typeface="Inter"/>
                <a:sym typeface="Inter"/>
              </a:rPr>
              <a:t>×4 đến 2030</a:t>
            </a:r>
            <a:endParaRPr lang="en-US" sz="1100"/>
          </a:p>
        </p:txBody>
      </p:sp>
      <p:sp>
        <p:nvSpPr>
          <p:cNvPr id="16" name="AutoShape 16"/>
          <p:cNvSpPr txBox="1"/>
          <p:nvPr/>
        </p:nvSpPr>
        <p:spPr>
          <a:xfrm>
            <a:off x="2590800" y="5105400"/>
            <a:ext cx="3378200" cy="3048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200" b="0" i="0" u="none" strike="noStrike">
                <a:solidFill>
                  <a:srgbClr val="4A524A"/>
                </a:solidFill>
                <a:latin typeface="Inter"/>
                <a:ea typeface="Inter"/>
                <a:cs typeface="Inter"/>
                <a:sym typeface="Inter"/>
              </a:rPr>
              <a:t>thị trường gió ngoài khơi hàng năm</a:t>
            </a:r>
            <a:endParaRPr lang="en-US" sz="1100"/>
          </a:p>
        </p:txBody>
      </p:sp>
      <p:pic>
        <p:nvPicPr>
          <p:cNvPr id="17" name="Picture 17"/>
          <p:cNvPicPr>
            <a:picLocks noChangeAspect="1"/>
          </p:cNvPicPr>
          <p:nvPr/>
        </p:nvPicPr>
        <p:blipFill>
          <a:blip r:embed="rId1"/>
          <a:srcRect t="171" b="171"/>
          <a:stretch>
            <a:fillRect/>
          </a:stretch>
        </p:blipFill>
        <p:spPr>
          <a:xfrm>
            <a:off x="6604000" y="1930400"/>
            <a:ext cx="4775200" cy="3175000"/>
          </a:xfrm>
          <a:prstGeom prst="rect">
            <a:avLst/>
          </a:prstGeom>
          <a:noFill/>
          <a:ln w="25400" cap="flat" cmpd="sng">
            <a:noFill/>
            <a:prstDash val="solid"/>
            <a:round/>
          </a:ln>
        </p:spPr>
      </p:pic>
      <p:sp>
        <p:nvSpPr>
          <p:cNvPr id="18" name="AutoShape 18"/>
          <p:cNvSpPr txBox="1"/>
          <p:nvPr/>
        </p:nvSpPr>
        <p:spPr>
          <a:xfrm>
            <a:off x="6604000" y="5207000"/>
            <a:ext cx="4775200" cy="2286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000" b="0" i="0" u="none" strike="noStrike">
                <a:solidFill>
                  <a:srgbClr val="787C74"/>
                </a:solidFill>
                <a:latin typeface="Inter"/>
                <a:ea typeface="Inter"/>
                <a:cs typeface="Inter"/>
                <a:sym typeface="Inter"/>
              </a:rPr>
              <a:t>Tuabin gió ngoài khơi — phát điện ổn định 24/7</a:t>
            </a:r>
            <a:endParaRPr lang="en-US" sz="1100"/>
          </a:p>
        </p:txBody>
      </p:sp>
      <p:sp>
        <p:nvSpPr>
          <p:cNvPr id="19" name="AutoShape 19"/>
          <p:cNvSpPr txBox="1"/>
          <p:nvPr/>
        </p:nvSpPr>
        <p:spPr>
          <a:xfrm>
            <a:off x="812800" y="6451600"/>
            <a:ext cx="7620000" cy="2032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900" b="0" i="0" u="none" strike="noStrike">
                <a:solidFill>
                  <a:srgbClr val="8C8A82"/>
                </a:solidFill>
                <a:latin typeface="Inter"/>
                <a:ea typeface="Inter"/>
                <a:cs typeface="Inter"/>
                <a:sym typeface="Inter"/>
              </a:rPr>
              <a:t>Nguồn: IEA Renewables 2025 · GWEC · Vestas / MingYang</a:t>
            </a:r>
            <a:endParaRPr lang="en-US" sz="1100"/>
          </a:p>
        </p:txBody>
      </p:sp>
      <p:sp>
        <p:nvSpPr>
          <p:cNvPr id="20" name="AutoShape 20"/>
          <p:cNvSpPr txBox="1"/>
          <p:nvPr/>
        </p:nvSpPr>
        <p:spPr>
          <a:xfrm>
            <a:off x="10668000" y="6451600"/>
            <a:ext cx="711200" cy="203200"/>
          </a:xfrm>
          <a:prstGeom prst="rect">
            <a:avLst/>
          </a:prstGeom>
          <a:noFill/>
          <a:ln w="12700" cap="flat" cmpd="sng">
            <a:noFill/>
            <a:prstDash val="solid"/>
            <a:round/>
          </a:ln>
        </p:spPr>
        <p:txBody>
          <a:bodyPr vert="horz" wrap="none" lIns="0" tIns="0" rIns="0" bIns="0" rtlCol="0" anchor="ctr" anchorCtr="0"/>
          <a:lstStyle/>
          <a:p>
            <a:pPr marL="0" indent="0" algn="r">
              <a:lnSpc>
                <a:spcPct val="125000"/>
              </a:lnSpc>
              <a:defRPr/>
            </a:pPr>
            <a:r>
              <a:rPr lang="en-US" sz="900" b="0" i="0" u="none" strike="noStrike">
                <a:solidFill>
                  <a:srgbClr val="8C8A82"/>
                </a:solidFill>
                <a:latin typeface="Inter"/>
                <a:ea typeface="Inter"/>
                <a:cs typeface="Inter"/>
                <a:sym typeface="Inter"/>
              </a:rPr>
              <a:t>07 / 12</a:t>
            </a:r>
            <a:endParaRPr lang="en-US" sz="110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9F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12800" y="584200"/>
            <a:ext cx="406400" cy="38100"/>
          </a:xfrm>
          <a:prstGeom prst="roundRect">
            <a:avLst>
              <a:gd name="adj" fmla="val 0"/>
            </a:avLst>
          </a:prstGeom>
          <a:solidFill>
            <a:srgbClr val="C17B3A">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txBox="1"/>
          <p:nvPr/>
        </p:nvSpPr>
        <p:spPr>
          <a:xfrm>
            <a:off x="1320800" y="508000"/>
            <a:ext cx="7620000" cy="2286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000" b="0" i="0" u="none" strike="noStrike">
                <a:solidFill>
                  <a:srgbClr val="C17B3A"/>
                </a:solidFill>
                <a:latin typeface="Montserrat"/>
                <a:ea typeface="Montserrat"/>
                <a:cs typeface="Montserrat"/>
                <a:sym typeface="Montserrat"/>
              </a:rPr>
              <a:t>02 · CÔNG NGHỆ CỐT LÕI · HYDROGEN XANH</a:t>
            </a:r>
            <a:endParaRPr lang="en-US" sz="1100"/>
          </a:p>
        </p:txBody>
      </p:sp>
      <p:sp>
        <p:nvSpPr>
          <p:cNvPr id="4" name="AutoShape 4"/>
          <p:cNvSpPr txBox="1"/>
          <p:nvPr/>
        </p:nvSpPr>
        <p:spPr>
          <a:xfrm>
            <a:off x="812800" y="863600"/>
            <a:ext cx="10566400" cy="5588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600" b="1" i="0" u="none" strike="noStrike">
                <a:solidFill>
                  <a:srgbClr val="1A1F1B"/>
                </a:solidFill>
                <a:latin typeface="Playfair Display"/>
                <a:ea typeface="Playfair Display"/>
                <a:cs typeface="Playfair Display"/>
                <a:sym typeface="Playfair Display"/>
              </a:rPr>
              <a:t>Hydrogen xanh: Mảnh ghép cho ngành khó khử cacbon</a:t>
            </a:r>
            <a:endParaRPr lang="en-US" sz="1100"/>
          </a:p>
        </p:txBody>
      </p:sp>
      <p:cxnSp>
        <p:nvCxnSpPr>
          <p:cNvPr id="5" name="Connector 5"/>
          <p:cNvCxnSpPr/>
          <p:nvPr/>
        </p:nvCxnSpPr>
        <p:spPr>
          <a:xfrm rot="-4131">
            <a:off x="812804" y="1619250"/>
            <a:ext cx="10566400" cy="12700"/>
          </a:xfrm>
          <a:prstGeom prst="straightConnector1">
            <a:avLst/>
          </a:prstGeom>
          <a:solidFill>
            <a:srgbClr val="DEE0E3">
              <a:alpha val="100000"/>
            </a:srgbClr>
          </a:solidFill>
          <a:ln w="12700" cap="flat" cmpd="sng">
            <a:solidFill>
              <a:srgbClr val="E0DED6">
                <a:alpha val="100000"/>
              </a:srgbClr>
            </a:solidFill>
            <a:prstDash val="solid"/>
            <a:round/>
            <a:headEnd type="none" w="med" len="med"/>
            <a:tailEnd type="none" w="med" len="med"/>
          </a:ln>
        </p:spPr>
      </p:cxnSp>
      <p:pic>
        <p:nvPicPr>
          <p:cNvPr id="6" name="Picture 6"/>
          <p:cNvPicPr>
            <a:picLocks noChangeAspect="1"/>
          </p:cNvPicPr>
          <p:nvPr/>
        </p:nvPicPr>
        <p:blipFill>
          <a:blip r:embed="rId1"/>
          <a:srcRect/>
          <a:stretch>
            <a:fillRect/>
          </a:stretch>
        </p:blipFill>
        <p:spPr>
          <a:xfrm>
            <a:off x="6807200" y="1930400"/>
            <a:ext cx="4572000" cy="3048000"/>
          </a:xfrm>
          <a:prstGeom prst="rect">
            <a:avLst/>
          </a:prstGeom>
          <a:noFill/>
          <a:ln w="25400" cap="flat" cmpd="sng">
            <a:noFill/>
            <a:prstDash val="solid"/>
            <a:round/>
          </a:ln>
        </p:spPr>
      </p:pic>
      <p:sp>
        <p:nvSpPr>
          <p:cNvPr id="7" name="AutoShape 7"/>
          <p:cNvSpPr txBox="1"/>
          <p:nvPr/>
        </p:nvSpPr>
        <p:spPr>
          <a:xfrm>
            <a:off x="6807200" y="5080000"/>
            <a:ext cx="4572000" cy="2286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000" b="0" i="0" u="none" strike="noStrike">
                <a:solidFill>
                  <a:srgbClr val="787C74"/>
                </a:solidFill>
                <a:latin typeface="Inter"/>
                <a:ea typeface="Inter"/>
                <a:cs typeface="Inter"/>
                <a:sym typeface="Inter"/>
              </a:rPr>
              <a:t>Trạm điện phân hydrogen xanh — chạy bằng điện tái tạo</a:t>
            </a:r>
            <a:endParaRPr lang="en-US" sz="1100"/>
          </a:p>
        </p:txBody>
      </p:sp>
      <p:sp>
        <p:nvSpPr>
          <p:cNvPr id="8" name="AutoShape 8"/>
          <p:cNvSpPr txBox="1"/>
          <p:nvPr/>
        </p:nvSpPr>
        <p:spPr>
          <a:xfrm>
            <a:off x="812800" y="1930400"/>
            <a:ext cx="5334000" cy="1143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7200" b="1" i="0" u="none" strike="noStrike">
                <a:solidFill>
                  <a:srgbClr val="1B4D3E"/>
                </a:solidFill>
                <a:latin typeface="Anton"/>
                <a:ea typeface="Anton"/>
                <a:cs typeface="Anton"/>
                <a:sym typeface="Anton"/>
              </a:rPr>
              <a:t>0 g</a:t>
            </a:r>
            <a:r>
              <a:rPr lang="en-US" sz="7200" b="1" i="0" u="none" strike="noStrike">
                <a:solidFill>
                  <a:srgbClr val="000000"/>
                </a:solidFill>
                <a:latin typeface="Anton"/>
                <a:ea typeface="Anton"/>
                <a:cs typeface="Anton"/>
                <a:sym typeface="Anton"/>
              </a:rPr>
              <a:t> </a:t>
            </a:r>
            <a:r>
              <a:rPr lang="en-US" sz="7200" b="1" i="0" u="none" strike="noStrike">
                <a:solidFill>
                  <a:srgbClr val="C17B3A"/>
                </a:solidFill>
                <a:latin typeface="Anton"/>
                <a:ea typeface="Anton"/>
                <a:cs typeface="Anton"/>
                <a:sym typeface="Anton"/>
              </a:rPr>
              <a:t>CO₂</a:t>
            </a:r>
            <a:endParaRPr lang="en-US" sz="1100"/>
          </a:p>
        </p:txBody>
      </p:sp>
      <p:sp>
        <p:nvSpPr>
          <p:cNvPr id="9" name="AutoShape 9"/>
          <p:cNvSpPr txBox="1"/>
          <p:nvPr/>
        </p:nvSpPr>
        <p:spPr>
          <a:xfrm>
            <a:off x="812800" y="3149600"/>
            <a:ext cx="5334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A524A"/>
                </a:solidFill>
                <a:latin typeface="Inter"/>
                <a:ea typeface="Inter"/>
                <a:cs typeface="Inter"/>
                <a:sym typeface="Inter"/>
              </a:rPr>
              <a:t>phát thải tại điểm sử dụng — sản xuất bằng điện phân nước, chỉ thải ra oxy và nước.</a:t>
            </a:r>
            <a:endParaRPr lang="en-US" sz="1100"/>
          </a:p>
        </p:txBody>
      </p:sp>
      <p:sp>
        <p:nvSpPr>
          <p:cNvPr id="10" name="AutoShape 10"/>
          <p:cNvSpPr/>
          <p:nvPr/>
        </p:nvSpPr>
        <p:spPr>
          <a:xfrm>
            <a:off x="812800" y="4013200"/>
            <a:ext cx="1168400" cy="711200"/>
          </a:xfrm>
          <a:prstGeom prst="roundRect">
            <a:avLst>
              <a:gd name="adj" fmla="val 10714"/>
            </a:avLst>
          </a:prstGeom>
          <a:solidFill>
            <a:srgbClr val="1B4D3E">
              <a:alpha val="8000"/>
            </a:srgbClr>
          </a:solidFill>
          <a:ln w="12700" cap="flat" cmpd="sng">
            <a:solidFill>
              <a:srgbClr val="1B4D3E">
                <a:alpha val="100000"/>
              </a:srgbClr>
            </a:solidFill>
            <a:prstDash val="solid"/>
            <a:round/>
          </a:ln>
        </p:spPr>
        <p:txBody>
          <a:bodyPr vert="horz" wrap="square" lIns="0" tIns="0" rIns="0" bIns="0" rtlCol="0" anchor="ctr" anchorCtr="0"/>
          <a:lstStyle/>
          <a:p>
            <a:pPr marL="0" indent="0" algn="ctr">
              <a:lnSpc>
                <a:spcPct val="108000"/>
              </a:lnSpc>
              <a:defRPr/>
            </a:pPr>
            <a:r>
              <a:rPr lang="en-US" sz="1000" b="1" i="0" u="none" strike="noStrike">
                <a:solidFill>
                  <a:srgbClr val="1A1F1B"/>
                </a:solidFill>
                <a:latin typeface="Inter"/>
                <a:ea typeface="Inter"/>
                <a:cs typeface="Inter"/>
                <a:sym typeface="Inter"/>
              </a:rPr>
              <a:t>ĐIỆN TÁI TẠO</a:t>
            </a:r>
            <a:endParaRPr lang="en-US" sz="1100"/>
          </a:p>
        </p:txBody>
      </p:sp>
      <p:cxnSp>
        <p:nvCxnSpPr>
          <p:cNvPr id="11" name="Connector 11"/>
          <p:cNvCxnSpPr/>
          <p:nvPr/>
        </p:nvCxnSpPr>
        <p:spPr>
          <a:xfrm rot="-171744">
            <a:off x="2057559" y="4362450"/>
            <a:ext cx="254000" cy="12700"/>
          </a:xfrm>
          <a:prstGeom prst="straightConnector1">
            <a:avLst/>
          </a:prstGeom>
          <a:solidFill>
            <a:srgbClr val="DEE0E3">
              <a:alpha val="100000"/>
            </a:srgbClr>
          </a:solidFill>
          <a:ln w="25400" cap="flat" cmpd="sng">
            <a:solidFill>
              <a:srgbClr val="C17B3A">
                <a:alpha val="100000"/>
              </a:srgbClr>
            </a:solidFill>
            <a:prstDash val="solid"/>
            <a:round/>
            <a:headEnd type="none" w="lg" len="lg"/>
            <a:tailEnd type="arrow" w="lg" len="lg"/>
          </a:ln>
        </p:spPr>
      </p:cxnSp>
      <p:sp>
        <p:nvSpPr>
          <p:cNvPr id="12" name="AutoShape 12"/>
          <p:cNvSpPr/>
          <p:nvPr/>
        </p:nvSpPr>
        <p:spPr>
          <a:xfrm>
            <a:off x="2387600" y="4013200"/>
            <a:ext cx="1168400" cy="711200"/>
          </a:xfrm>
          <a:prstGeom prst="roundRect">
            <a:avLst>
              <a:gd name="adj" fmla="val 10714"/>
            </a:avLst>
          </a:prstGeom>
          <a:solidFill>
            <a:srgbClr val="1B4D3E">
              <a:alpha val="8000"/>
            </a:srgbClr>
          </a:solidFill>
          <a:ln w="12700" cap="flat" cmpd="sng">
            <a:solidFill>
              <a:srgbClr val="1B4D3E">
                <a:alpha val="100000"/>
              </a:srgbClr>
            </a:solidFill>
            <a:prstDash val="solid"/>
            <a:round/>
          </a:ln>
        </p:spPr>
        <p:txBody>
          <a:bodyPr vert="horz" wrap="square" lIns="0" tIns="0" rIns="0" bIns="0" rtlCol="0" anchor="ctr" anchorCtr="0"/>
          <a:lstStyle/>
          <a:p>
            <a:pPr marL="0" indent="0" algn="ctr">
              <a:lnSpc>
                <a:spcPct val="108000"/>
              </a:lnSpc>
              <a:defRPr/>
            </a:pPr>
            <a:r>
              <a:rPr lang="en-US" sz="1000" b="1" i="0" u="none" strike="noStrike">
                <a:solidFill>
                  <a:srgbClr val="1A1F1B"/>
                </a:solidFill>
                <a:latin typeface="Inter"/>
                <a:ea typeface="Inter"/>
                <a:cs typeface="Inter"/>
                <a:sym typeface="Inter"/>
              </a:rPr>
              <a:t>ĐIỆN PHÂN</a:t>
            </a:r>
            <a:endParaRPr lang="en-US" sz="1100"/>
          </a:p>
          <a:p>
            <a:pPr marL="0" indent="0" algn="ctr">
              <a:lnSpc>
                <a:spcPct val="108000"/>
              </a:lnSpc>
            </a:pPr>
            <a:r>
              <a:rPr lang="en-US" sz="800" b="1" i="0" u="none" strike="noStrike">
                <a:solidFill>
                  <a:srgbClr val="787C74"/>
                </a:solidFill>
                <a:latin typeface="Inter"/>
                <a:ea typeface="Inter"/>
                <a:cs typeface="Inter"/>
                <a:sym typeface="Inter"/>
              </a:rPr>
              <a:t>H₂O</a:t>
            </a:r>
            <a:endParaRPr lang="en-US" sz="800" b="1" i="0" u="none" strike="noStrike">
              <a:solidFill>
                <a:srgbClr val="787C74"/>
              </a:solidFill>
              <a:latin typeface="Inter"/>
              <a:ea typeface="Inter"/>
              <a:cs typeface="Inter"/>
              <a:sym typeface="Inter"/>
            </a:endParaRPr>
          </a:p>
        </p:txBody>
      </p:sp>
      <p:cxnSp>
        <p:nvCxnSpPr>
          <p:cNvPr id="13" name="Connector 13"/>
          <p:cNvCxnSpPr/>
          <p:nvPr/>
        </p:nvCxnSpPr>
        <p:spPr>
          <a:xfrm rot="-171744">
            <a:off x="3632359" y="4362450"/>
            <a:ext cx="254000" cy="12700"/>
          </a:xfrm>
          <a:prstGeom prst="straightConnector1">
            <a:avLst/>
          </a:prstGeom>
          <a:solidFill>
            <a:srgbClr val="DEE0E3">
              <a:alpha val="100000"/>
            </a:srgbClr>
          </a:solidFill>
          <a:ln w="25400" cap="flat" cmpd="sng">
            <a:solidFill>
              <a:srgbClr val="C17B3A">
                <a:alpha val="100000"/>
              </a:srgbClr>
            </a:solidFill>
            <a:prstDash val="solid"/>
            <a:round/>
            <a:headEnd type="none" w="lg" len="lg"/>
            <a:tailEnd type="arrow" w="lg" len="lg"/>
          </a:ln>
        </p:spPr>
      </p:cxnSp>
      <p:sp>
        <p:nvSpPr>
          <p:cNvPr id="14" name="AutoShape 14"/>
          <p:cNvSpPr/>
          <p:nvPr/>
        </p:nvSpPr>
        <p:spPr>
          <a:xfrm>
            <a:off x="3962400" y="4013200"/>
            <a:ext cx="1168400" cy="711200"/>
          </a:xfrm>
          <a:prstGeom prst="roundRect">
            <a:avLst>
              <a:gd name="adj" fmla="val 10714"/>
            </a:avLst>
          </a:prstGeom>
          <a:solidFill>
            <a:srgbClr val="C17B3A">
              <a:alpha val="12000"/>
            </a:srgbClr>
          </a:solidFill>
          <a:ln w="12700" cap="flat" cmpd="sng">
            <a:solidFill>
              <a:srgbClr val="C17B3A">
                <a:alpha val="100000"/>
              </a:srgbClr>
            </a:solidFill>
            <a:prstDash val="solid"/>
            <a:round/>
          </a:ln>
        </p:spPr>
        <p:txBody>
          <a:bodyPr vert="horz" wrap="square" lIns="0" tIns="0" rIns="0" bIns="0" rtlCol="0" anchor="ctr" anchorCtr="0"/>
          <a:lstStyle/>
          <a:p>
            <a:pPr marL="0" indent="0" algn="ctr">
              <a:lnSpc>
                <a:spcPct val="108000"/>
              </a:lnSpc>
              <a:defRPr/>
            </a:pPr>
            <a:r>
              <a:rPr lang="en-US" sz="1000" b="1" i="0" u="none" strike="noStrike">
                <a:solidFill>
                  <a:srgbClr val="1A1F1B"/>
                </a:solidFill>
                <a:latin typeface="Inter"/>
                <a:ea typeface="Inter"/>
                <a:cs typeface="Inter"/>
                <a:sym typeface="Inter"/>
              </a:rPr>
              <a:t>H₂ XANH</a:t>
            </a:r>
            <a:endParaRPr lang="en-US" sz="1100"/>
          </a:p>
        </p:txBody>
      </p:sp>
      <p:cxnSp>
        <p:nvCxnSpPr>
          <p:cNvPr id="15" name="Connector 15"/>
          <p:cNvCxnSpPr/>
          <p:nvPr/>
        </p:nvCxnSpPr>
        <p:spPr>
          <a:xfrm rot="-171744">
            <a:off x="5207159" y="4362450"/>
            <a:ext cx="254000" cy="12700"/>
          </a:xfrm>
          <a:prstGeom prst="straightConnector1">
            <a:avLst/>
          </a:prstGeom>
          <a:solidFill>
            <a:srgbClr val="DEE0E3">
              <a:alpha val="100000"/>
            </a:srgbClr>
          </a:solidFill>
          <a:ln w="25400" cap="flat" cmpd="sng">
            <a:solidFill>
              <a:srgbClr val="C17B3A">
                <a:alpha val="100000"/>
              </a:srgbClr>
            </a:solidFill>
            <a:prstDash val="solid"/>
            <a:round/>
            <a:headEnd type="none" w="lg" len="lg"/>
            <a:tailEnd type="arrow" w="lg" len="lg"/>
          </a:ln>
        </p:spPr>
      </p:cxnSp>
      <p:sp>
        <p:nvSpPr>
          <p:cNvPr id="16" name="AutoShape 16"/>
          <p:cNvSpPr/>
          <p:nvPr/>
        </p:nvSpPr>
        <p:spPr>
          <a:xfrm>
            <a:off x="5537200" y="4013200"/>
            <a:ext cx="1168400" cy="711200"/>
          </a:xfrm>
          <a:prstGeom prst="roundRect">
            <a:avLst>
              <a:gd name="adj" fmla="val 10714"/>
            </a:avLst>
          </a:prstGeom>
          <a:solidFill>
            <a:srgbClr val="1E5F8A">
              <a:alpha val="8000"/>
            </a:srgbClr>
          </a:solidFill>
          <a:ln w="12700" cap="flat" cmpd="sng">
            <a:solidFill>
              <a:srgbClr val="1E5F8A">
                <a:alpha val="100000"/>
              </a:srgbClr>
            </a:solidFill>
            <a:prstDash val="solid"/>
            <a:round/>
          </a:ln>
        </p:spPr>
        <p:txBody>
          <a:bodyPr vert="horz" wrap="square" lIns="0" tIns="0" rIns="0" bIns="0" rtlCol="0" anchor="ctr" anchorCtr="0"/>
          <a:lstStyle/>
          <a:p>
            <a:pPr marL="0" indent="0" algn="ctr">
              <a:lnSpc>
                <a:spcPct val="108000"/>
              </a:lnSpc>
              <a:defRPr/>
            </a:pPr>
            <a:r>
              <a:rPr lang="en-US" sz="1000" b="1" i="0" u="none" strike="noStrike">
                <a:solidFill>
                  <a:srgbClr val="1A1F1B"/>
                </a:solidFill>
                <a:latin typeface="Inter"/>
                <a:ea typeface="Inter"/>
                <a:cs typeface="Inter"/>
                <a:sym typeface="Inter"/>
              </a:rPr>
              <a:t>ỨNG DỤNG</a:t>
            </a:r>
            <a:endParaRPr lang="en-US" sz="1100"/>
          </a:p>
        </p:txBody>
      </p:sp>
      <p:sp>
        <p:nvSpPr>
          <p:cNvPr id="17" name="AutoShape 17"/>
          <p:cNvSpPr txBox="1"/>
          <p:nvPr/>
        </p:nvSpPr>
        <p:spPr>
          <a:xfrm>
            <a:off x="812800" y="5029200"/>
            <a:ext cx="571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1A1F1B"/>
                </a:solidFill>
                <a:latin typeface="Inter"/>
                <a:ea typeface="Inter"/>
                <a:cs typeface="Inter"/>
                <a:sym typeface="Inter"/>
              </a:rPr>
              <a:t>Giải quyết ~30% nhu cầu năng lượng cuối </a:t>
            </a:r>
            <a:r>
              <a:rPr lang="en-US" sz="1300" b="1" i="0" u="none" strike="noStrike">
                <a:solidFill>
                  <a:srgbClr val="C17B3A"/>
                </a:solidFill>
                <a:latin typeface="Inter"/>
                <a:ea typeface="Inter"/>
                <a:cs typeface="Inter"/>
                <a:sym typeface="Inter"/>
              </a:rPr>
              <a:t>khó điện khí hóa</a:t>
            </a:r>
            <a:r>
              <a:rPr lang="en-US" sz="1300" b="0" i="0" u="none" strike="noStrike">
                <a:solidFill>
                  <a:srgbClr val="1A1F1B"/>
                </a:solidFill>
                <a:latin typeface="Inter"/>
                <a:ea typeface="Inter"/>
                <a:cs typeface="Inter"/>
                <a:sym typeface="Inter"/>
              </a:rPr>
              <a:t>: thép, hóa chất, hàng hải.</a:t>
            </a:r>
            <a:endParaRPr lang="en-US" sz="1100"/>
          </a:p>
        </p:txBody>
      </p:sp>
      <p:sp>
        <p:nvSpPr>
          <p:cNvPr id="18" name="AutoShape 18"/>
          <p:cNvSpPr txBox="1"/>
          <p:nvPr/>
        </p:nvSpPr>
        <p:spPr>
          <a:xfrm>
            <a:off x="812800" y="6451600"/>
            <a:ext cx="7620000" cy="2032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900" b="0" i="0" u="none" strike="noStrike">
                <a:solidFill>
                  <a:srgbClr val="8C8A82"/>
                </a:solidFill>
                <a:latin typeface="Inter"/>
                <a:ea typeface="Inter"/>
                <a:cs typeface="Inter"/>
                <a:sym typeface="Inter"/>
              </a:rPr>
              <a:t>Nguồn: IEA Global Hydrogen Review · Hydrogen Council</a:t>
            </a:r>
            <a:endParaRPr lang="en-US" sz="1100"/>
          </a:p>
        </p:txBody>
      </p:sp>
      <p:sp>
        <p:nvSpPr>
          <p:cNvPr id="19" name="AutoShape 19"/>
          <p:cNvSpPr txBox="1"/>
          <p:nvPr/>
        </p:nvSpPr>
        <p:spPr>
          <a:xfrm>
            <a:off x="10668000" y="6451600"/>
            <a:ext cx="711200" cy="203200"/>
          </a:xfrm>
          <a:prstGeom prst="rect">
            <a:avLst/>
          </a:prstGeom>
          <a:noFill/>
          <a:ln w="12700" cap="flat" cmpd="sng">
            <a:noFill/>
            <a:prstDash val="solid"/>
            <a:round/>
          </a:ln>
        </p:spPr>
        <p:txBody>
          <a:bodyPr vert="horz" wrap="none" lIns="0" tIns="0" rIns="0" bIns="0" rtlCol="0" anchor="ctr" anchorCtr="0"/>
          <a:lstStyle/>
          <a:p>
            <a:pPr marL="0" indent="0" algn="r">
              <a:lnSpc>
                <a:spcPct val="125000"/>
              </a:lnSpc>
              <a:defRPr/>
            </a:pPr>
            <a:r>
              <a:rPr lang="en-US" sz="900" b="0" i="0" u="none" strike="noStrike">
                <a:solidFill>
                  <a:srgbClr val="8C8A82"/>
                </a:solidFill>
                <a:latin typeface="Inter"/>
                <a:ea typeface="Inter"/>
                <a:cs typeface="Inter"/>
                <a:sym typeface="Inter"/>
              </a:rPr>
              <a:t>08 / 12</a:t>
            </a:r>
            <a:endParaRPr lang="en-US" sz="110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9F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12800" y="584200"/>
            <a:ext cx="406400" cy="38100"/>
          </a:xfrm>
          <a:prstGeom prst="roundRect">
            <a:avLst>
              <a:gd name="adj" fmla="val 0"/>
            </a:avLst>
          </a:prstGeom>
          <a:solidFill>
            <a:srgbClr val="1B4D3E">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txBox="1"/>
          <p:nvPr/>
        </p:nvSpPr>
        <p:spPr>
          <a:xfrm>
            <a:off x="1320800" y="508000"/>
            <a:ext cx="6350000" cy="2286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000" b="0" i="0" u="none" strike="noStrike">
                <a:solidFill>
                  <a:srgbClr val="1B4D3E"/>
                </a:solidFill>
                <a:latin typeface="Montserrat"/>
                <a:ea typeface="Montserrat"/>
                <a:cs typeface="Montserrat"/>
                <a:sym typeface="Montserrat"/>
              </a:rPr>
              <a:t>03 · LỢI ÍCH KÉP</a:t>
            </a:r>
            <a:endParaRPr lang="en-US" sz="1100"/>
          </a:p>
        </p:txBody>
      </p:sp>
      <p:sp>
        <p:nvSpPr>
          <p:cNvPr id="4" name="AutoShape 4"/>
          <p:cNvSpPr txBox="1"/>
          <p:nvPr/>
        </p:nvSpPr>
        <p:spPr>
          <a:xfrm>
            <a:off x="812800" y="863600"/>
            <a:ext cx="10566400" cy="5588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800" b="1" i="0" u="none" strike="noStrike">
                <a:solidFill>
                  <a:srgbClr val="1A1F1B"/>
                </a:solidFill>
                <a:latin typeface="Playfair Display"/>
                <a:ea typeface="Playfair Display"/>
                <a:cs typeface="Playfair Display"/>
                <a:sym typeface="Playfair Display"/>
              </a:rPr>
              <a:t>Kinh tế tăng trưởng, môi trường hồi phục</a:t>
            </a:r>
            <a:endParaRPr lang="en-US" sz="1100"/>
          </a:p>
        </p:txBody>
      </p:sp>
      <p:cxnSp>
        <p:nvCxnSpPr>
          <p:cNvPr id="5" name="Connector 5"/>
          <p:cNvCxnSpPr/>
          <p:nvPr/>
        </p:nvCxnSpPr>
        <p:spPr>
          <a:xfrm rot="-4131">
            <a:off x="812804" y="1619250"/>
            <a:ext cx="10566400" cy="12700"/>
          </a:xfrm>
          <a:prstGeom prst="straightConnector1">
            <a:avLst/>
          </a:prstGeom>
          <a:solidFill>
            <a:srgbClr val="DEE0E3">
              <a:alpha val="100000"/>
            </a:srgbClr>
          </a:solidFill>
          <a:ln w="12700" cap="flat" cmpd="sng">
            <a:solidFill>
              <a:srgbClr val="E0DED6">
                <a:alpha val="100000"/>
              </a:srgbClr>
            </a:solidFill>
            <a:prstDash val="solid"/>
            <a:round/>
            <a:headEnd type="none" w="med" len="med"/>
            <a:tailEnd type="none" w="med" len="med"/>
          </a:ln>
        </p:spPr>
      </p:cxnSp>
      <p:sp>
        <p:nvSpPr>
          <p:cNvPr id="6" name="AutoShape 6"/>
          <p:cNvSpPr txBox="1"/>
          <p:nvPr/>
        </p:nvSpPr>
        <p:spPr>
          <a:xfrm>
            <a:off x="812800" y="2006600"/>
            <a:ext cx="2667000" cy="6604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3400" b="1" i="0" u="none" strike="noStrike">
                <a:solidFill>
                  <a:srgbClr val="1B4D3E"/>
                </a:solidFill>
                <a:latin typeface="Montserrat"/>
                <a:ea typeface="Montserrat"/>
                <a:cs typeface="Montserrat"/>
                <a:sym typeface="Montserrat"/>
              </a:rPr>
              <a:t>16,6 triệu</a:t>
            </a:r>
            <a:endParaRPr lang="en-US" sz="1100"/>
          </a:p>
        </p:txBody>
      </p:sp>
      <p:sp>
        <p:nvSpPr>
          <p:cNvPr id="7" name="AutoShape 7"/>
          <p:cNvSpPr txBox="1"/>
          <p:nvPr/>
        </p:nvSpPr>
        <p:spPr>
          <a:xfrm>
            <a:off x="812800" y="2717800"/>
            <a:ext cx="2540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100" b="0" i="0" u="none" strike="noStrike">
                <a:solidFill>
                  <a:srgbClr val="4A524A"/>
                </a:solidFill>
                <a:latin typeface="Inter"/>
                <a:ea typeface="Inter"/>
                <a:cs typeface="Inter"/>
                <a:sym typeface="Inter"/>
              </a:rPr>
              <a:t>việc làm ngành tái tạo toàn cầu (2024)</a:t>
            </a:r>
            <a:endParaRPr lang="en-US" sz="1100"/>
          </a:p>
        </p:txBody>
      </p:sp>
      <p:sp>
        <p:nvSpPr>
          <p:cNvPr id="8" name="AutoShape 8"/>
          <p:cNvSpPr txBox="1"/>
          <p:nvPr/>
        </p:nvSpPr>
        <p:spPr>
          <a:xfrm>
            <a:off x="3683000" y="2006600"/>
            <a:ext cx="2159000" cy="6604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3400" b="1" i="0" u="none" strike="noStrike">
                <a:solidFill>
                  <a:srgbClr val="1E5F8A"/>
                </a:solidFill>
                <a:latin typeface="Montserrat"/>
                <a:ea typeface="Montserrat"/>
                <a:cs typeface="Montserrat"/>
                <a:sym typeface="Montserrat"/>
              </a:rPr>
              <a:t>90%</a:t>
            </a:r>
            <a:endParaRPr lang="en-US" sz="1100"/>
          </a:p>
        </p:txBody>
      </p:sp>
      <p:sp>
        <p:nvSpPr>
          <p:cNvPr id="9" name="AutoShape 9"/>
          <p:cNvSpPr txBox="1"/>
          <p:nvPr/>
        </p:nvSpPr>
        <p:spPr>
          <a:xfrm>
            <a:off x="3683000" y="2717800"/>
            <a:ext cx="2159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100" b="0" i="0" u="none" strike="noStrike">
                <a:solidFill>
                  <a:srgbClr val="4A524A"/>
                </a:solidFill>
                <a:latin typeface="Inter"/>
                <a:ea typeface="Inter"/>
                <a:cs typeface="Inter"/>
                <a:sym typeface="Inter"/>
              </a:rPr>
              <a:t>thị trường có điện tái tạo rẻ hơn hóa thạch</a:t>
            </a:r>
            <a:endParaRPr lang="en-US" sz="1100"/>
          </a:p>
        </p:txBody>
      </p:sp>
      <p:cxnSp>
        <p:nvCxnSpPr>
          <p:cNvPr id="10" name="Connector 10"/>
          <p:cNvCxnSpPr/>
          <p:nvPr/>
        </p:nvCxnSpPr>
        <p:spPr>
          <a:xfrm rot="-8467">
            <a:off x="812808" y="3448050"/>
            <a:ext cx="5156200" cy="12700"/>
          </a:xfrm>
          <a:prstGeom prst="straightConnector1">
            <a:avLst/>
          </a:prstGeom>
          <a:solidFill>
            <a:srgbClr val="DEE0E3">
              <a:alpha val="100000"/>
            </a:srgbClr>
          </a:solidFill>
          <a:ln w="12700" cap="flat" cmpd="sng">
            <a:solidFill>
              <a:srgbClr val="E0DED6">
                <a:alpha val="100000"/>
              </a:srgbClr>
            </a:solidFill>
            <a:prstDash val="solid"/>
            <a:round/>
            <a:headEnd type="none" w="med" len="med"/>
            <a:tailEnd type="none" w="med" len="med"/>
          </a:ln>
        </p:spPr>
      </p:cxnSp>
      <p:sp>
        <p:nvSpPr>
          <p:cNvPr id="11" name="AutoShape 11"/>
          <p:cNvSpPr txBox="1"/>
          <p:nvPr/>
        </p:nvSpPr>
        <p:spPr>
          <a:xfrm>
            <a:off x="812800" y="3657600"/>
            <a:ext cx="2540000" cy="6604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3400" b="1" i="0" u="none" strike="noStrike">
                <a:solidFill>
                  <a:srgbClr val="2E7D5B"/>
                </a:solidFill>
                <a:latin typeface="Montserrat"/>
                <a:ea typeface="Montserrat"/>
                <a:cs typeface="Montserrat"/>
                <a:sym typeface="Montserrat"/>
              </a:rPr>
              <a:t>~90%</a:t>
            </a:r>
            <a:endParaRPr lang="en-US" sz="1100"/>
          </a:p>
        </p:txBody>
      </p:sp>
      <p:sp>
        <p:nvSpPr>
          <p:cNvPr id="12" name="AutoShape 12"/>
          <p:cNvSpPr txBox="1"/>
          <p:nvPr/>
        </p:nvSpPr>
        <p:spPr>
          <a:xfrm>
            <a:off x="812800" y="4368800"/>
            <a:ext cx="2540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100" b="0" i="0" u="none" strike="noStrike">
                <a:solidFill>
                  <a:srgbClr val="4A524A"/>
                </a:solidFill>
                <a:latin typeface="Inter"/>
                <a:ea typeface="Inter"/>
                <a:cs typeface="Inter"/>
                <a:sym typeface="Inter"/>
              </a:rPr>
              <a:t>điện từ tái tạo vào 2050 (kịch bản Net Zero)</a:t>
            </a:r>
            <a:endParaRPr lang="en-US" sz="1100"/>
          </a:p>
        </p:txBody>
      </p:sp>
      <p:sp>
        <p:nvSpPr>
          <p:cNvPr id="13" name="AutoShape 13"/>
          <p:cNvSpPr txBox="1"/>
          <p:nvPr/>
        </p:nvSpPr>
        <p:spPr>
          <a:xfrm>
            <a:off x="3683000" y="3657600"/>
            <a:ext cx="2667000" cy="6604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3000" b="1" i="0" u="none" strike="noStrike">
                <a:solidFill>
                  <a:srgbClr val="C17B3A"/>
                </a:solidFill>
                <a:latin typeface="Montserrat"/>
                <a:ea typeface="Montserrat"/>
                <a:cs typeface="Montserrat"/>
                <a:sym typeface="Montserrat"/>
              </a:rPr>
              <a:t>7 triệu/năm</a:t>
            </a:r>
            <a:endParaRPr lang="en-US" sz="1100"/>
          </a:p>
        </p:txBody>
      </p:sp>
      <p:sp>
        <p:nvSpPr>
          <p:cNvPr id="14" name="AutoShape 14"/>
          <p:cNvSpPr txBox="1"/>
          <p:nvPr/>
        </p:nvSpPr>
        <p:spPr>
          <a:xfrm>
            <a:off x="3683000" y="4368800"/>
            <a:ext cx="2159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100" b="0" i="0" u="none" strike="noStrike">
                <a:solidFill>
                  <a:srgbClr val="4A524A"/>
                </a:solidFill>
                <a:latin typeface="Inter"/>
                <a:ea typeface="Inter"/>
                <a:cs typeface="Inter"/>
                <a:sym typeface="Inter"/>
              </a:rPr>
              <a:t>tử vong sớm từ ô nhiễm không khí (WHO) — cắt giảm nguồn gốc</a:t>
            </a:r>
            <a:endParaRPr lang="en-US" sz="1100"/>
          </a:p>
        </p:txBody>
      </p:sp>
      <p:pic>
        <p:nvPicPr>
          <p:cNvPr id="15" name="Picture 15"/>
          <p:cNvPicPr>
            <a:picLocks noChangeAspect="1"/>
          </p:cNvPicPr>
          <p:nvPr/>
        </p:nvPicPr>
        <p:blipFill>
          <a:blip r:embed="rId1"/>
          <a:srcRect l="19" r="19"/>
          <a:stretch>
            <a:fillRect/>
          </a:stretch>
        </p:blipFill>
        <p:spPr>
          <a:xfrm>
            <a:off x="6604000" y="2006600"/>
            <a:ext cx="4775200" cy="2603500"/>
          </a:xfrm>
          <a:prstGeom prst="rect">
            <a:avLst/>
          </a:prstGeom>
          <a:noFill/>
          <a:ln w="25400" cap="flat" cmpd="sng">
            <a:noFill/>
            <a:prstDash val="solid"/>
            <a:round/>
          </a:ln>
        </p:spPr>
      </p:pic>
      <p:sp>
        <p:nvSpPr>
          <p:cNvPr id="16" name="AutoShape 16"/>
          <p:cNvSpPr txBox="1"/>
          <p:nvPr/>
        </p:nvSpPr>
        <p:spPr>
          <a:xfrm>
            <a:off x="6604000" y="4749800"/>
            <a:ext cx="47752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A1F1B"/>
                </a:solidFill>
                <a:latin typeface="Inter"/>
                <a:ea typeface="Inter"/>
                <a:cs typeface="Inter"/>
                <a:sym typeface="Inter"/>
              </a:rPr>
              <a:t>Lưới điện thông minh</a:t>
            </a:r>
            <a:r>
              <a:rPr lang="en-US" sz="1300" b="0" i="0" u="none" strike="noStrike">
                <a:solidFill>
                  <a:srgbClr val="4A524A"/>
                </a:solidFill>
                <a:latin typeface="Inter"/>
                <a:ea typeface="Inter"/>
                <a:cs typeface="Inter"/>
                <a:sym typeface="Inter"/>
              </a:rPr>
              <a:t> là nền tảng: cân bằng cung-cầu thời gian thực, tích hợp nguồn phát thay đổi, mở đường cho năng lượng phân tán.</a:t>
            </a:r>
            <a:endParaRPr lang="en-US" sz="1100"/>
          </a:p>
        </p:txBody>
      </p:sp>
      <p:sp>
        <p:nvSpPr>
          <p:cNvPr id="17" name="AutoShape 17"/>
          <p:cNvSpPr txBox="1"/>
          <p:nvPr/>
        </p:nvSpPr>
        <p:spPr>
          <a:xfrm>
            <a:off x="812800" y="6451600"/>
            <a:ext cx="8890000" cy="2032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900" b="0" i="0" u="none" strike="noStrike">
                <a:solidFill>
                  <a:srgbClr val="8C8A82"/>
                </a:solidFill>
                <a:latin typeface="Inter"/>
                <a:ea typeface="Inter"/>
                <a:cs typeface="Inter"/>
                <a:sym typeface="Inter"/>
              </a:rPr>
              <a:t>Nguồn: IRENA/ILO 2026 · IEA Net Zero by 2050 · WHO · IRENA Cost Outlook</a:t>
            </a:r>
            <a:endParaRPr lang="en-US" sz="1100"/>
          </a:p>
        </p:txBody>
      </p:sp>
      <p:sp>
        <p:nvSpPr>
          <p:cNvPr id="18" name="AutoShape 18"/>
          <p:cNvSpPr txBox="1"/>
          <p:nvPr/>
        </p:nvSpPr>
        <p:spPr>
          <a:xfrm>
            <a:off x="10668000" y="6451600"/>
            <a:ext cx="711200" cy="203200"/>
          </a:xfrm>
          <a:prstGeom prst="rect">
            <a:avLst/>
          </a:prstGeom>
          <a:noFill/>
          <a:ln w="12700" cap="flat" cmpd="sng">
            <a:noFill/>
            <a:prstDash val="solid"/>
            <a:round/>
          </a:ln>
        </p:spPr>
        <p:txBody>
          <a:bodyPr vert="horz" wrap="none" lIns="0" tIns="0" rIns="0" bIns="0" rtlCol="0" anchor="ctr" anchorCtr="0"/>
          <a:lstStyle/>
          <a:p>
            <a:pPr marL="0" indent="0" algn="r">
              <a:lnSpc>
                <a:spcPct val="125000"/>
              </a:lnSpc>
              <a:defRPr/>
            </a:pPr>
            <a:r>
              <a:rPr lang="en-US" sz="900" b="0" i="0" u="none" strike="noStrike">
                <a:solidFill>
                  <a:srgbClr val="8C8A82"/>
                </a:solidFill>
                <a:latin typeface="Inter"/>
                <a:ea typeface="Inter"/>
                <a:cs typeface="Inter"/>
                <a:sym typeface="Inter"/>
              </a:rPr>
              <a:t>09 / 12</a:t>
            </a:r>
            <a:endParaRPr lang="en-US" sz="110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9F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12800" y="584200"/>
            <a:ext cx="406400" cy="38100"/>
          </a:xfrm>
          <a:prstGeom prst="roundRect">
            <a:avLst>
              <a:gd name="adj" fmla="val 0"/>
            </a:avLst>
          </a:prstGeom>
          <a:solidFill>
            <a:srgbClr val="1B4D3E">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txBox="1"/>
          <p:nvPr/>
        </p:nvSpPr>
        <p:spPr>
          <a:xfrm>
            <a:off x="1320800" y="508000"/>
            <a:ext cx="6350000" cy="2286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000" b="0" i="0" u="none" strike="noStrike">
                <a:solidFill>
                  <a:srgbClr val="1B4D3E"/>
                </a:solidFill>
                <a:latin typeface="Montserrat"/>
                <a:ea typeface="Montserrat"/>
                <a:cs typeface="Montserrat"/>
                <a:sym typeface="Montserrat"/>
              </a:rPr>
              <a:t>04 · TẦM NHÌN 2050</a:t>
            </a:r>
            <a:endParaRPr lang="en-US" sz="1100"/>
          </a:p>
        </p:txBody>
      </p:sp>
      <p:sp>
        <p:nvSpPr>
          <p:cNvPr id="4" name="AutoShape 4"/>
          <p:cNvSpPr txBox="1"/>
          <p:nvPr/>
        </p:nvSpPr>
        <p:spPr>
          <a:xfrm>
            <a:off x="812800" y="863600"/>
            <a:ext cx="10566400" cy="5588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800" b="1" i="0" u="none" strike="noStrike">
                <a:solidFill>
                  <a:srgbClr val="1A1F1B"/>
                </a:solidFill>
                <a:latin typeface="Playfair Display"/>
                <a:ea typeface="Playfair Display"/>
                <a:cs typeface="Playfair Display"/>
                <a:sym typeface="Playfair Display"/>
              </a:rPr>
              <a:t>Lộ trình Net Zero: 2030 → 2040 → 2050</a:t>
            </a:r>
            <a:endParaRPr lang="en-US" sz="1100"/>
          </a:p>
        </p:txBody>
      </p:sp>
      <p:cxnSp>
        <p:nvCxnSpPr>
          <p:cNvPr id="5" name="Connector 5"/>
          <p:cNvCxnSpPr/>
          <p:nvPr/>
        </p:nvCxnSpPr>
        <p:spPr>
          <a:xfrm rot="-4131">
            <a:off x="812804" y="1619250"/>
            <a:ext cx="10566400" cy="12700"/>
          </a:xfrm>
          <a:prstGeom prst="straightConnector1">
            <a:avLst/>
          </a:prstGeom>
          <a:solidFill>
            <a:srgbClr val="DEE0E3">
              <a:alpha val="100000"/>
            </a:srgbClr>
          </a:solidFill>
          <a:ln w="12700" cap="flat" cmpd="sng">
            <a:solidFill>
              <a:srgbClr val="E0DED6">
                <a:alpha val="100000"/>
              </a:srgbClr>
            </a:solidFill>
            <a:prstDash val="solid"/>
            <a:round/>
            <a:headEnd type="none" w="med" len="med"/>
            <a:tailEnd type="none" w="med" len="med"/>
          </a:ln>
        </p:spPr>
      </p:cxnSp>
      <p:cxnSp>
        <p:nvCxnSpPr>
          <p:cNvPr id="6" name="Connector 6"/>
          <p:cNvCxnSpPr/>
          <p:nvPr/>
        </p:nvCxnSpPr>
        <p:spPr>
          <a:xfrm rot="-53710">
            <a:off x="1778050" y="3702050"/>
            <a:ext cx="812800" cy="12700"/>
          </a:xfrm>
          <a:prstGeom prst="straightConnector1">
            <a:avLst/>
          </a:prstGeom>
          <a:solidFill>
            <a:srgbClr val="DEE0E3">
              <a:alpha val="100000"/>
            </a:srgbClr>
          </a:solidFill>
          <a:ln w="25400" cap="flat" cmpd="sng">
            <a:solidFill>
              <a:srgbClr val="D4D2CA">
                <a:alpha val="100000"/>
              </a:srgbClr>
            </a:solidFill>
            <a:prstDash val="solid"/>
            <a:round/>
            <a:headEnd type="none" w="lg" len="lg"/>
            <a:tailEnd type="none" w="lg" len="lg"/>
          </a:ln>
        </p:spPr>
      </p:cxnSp>
      <p:cxnSp>
        <p:nvCxnSpPr>
          <p:cNvPr id="7" name="Connector 7"/>
          <p:cNvCxnSpPr/>
          <p:nvPr/>
        </p:nvCxnSpPr>
        <p:spPr>
          <a:xfrm rot="-15077">
            <a:off x="2997214" y="3702050"/>
            <a:ext cx="2895600" cy="12700"/>
          </a:xfrm>
          <a:prstGeom prst="straightConnector1">
            <a:avLst/>
          </a:prstGeom>
          <a:solidFill>
            <a:srgbClr val="DEE0E3">
              <a:alpha val="100000"/>
            </a:srgbClr>
          </a:solidFill>
          <a:ln w="25400" cap="flat" cmpd="sng">
            <a:solidFill>
              <a:srgbClr val="D4D2CA">
                <a:alpha val="100000"/>
              </a:srgbClr>
            </a:solidFill>
            <a:prstDash val="solid"/>
            <a:round/>
            <a:headEnd type="none" w="lg" len="lg"/>
            <a:tailEnd type="none" w="lg" len="lg"/>
          </a:ln>
        </p:spPr>
      </p:cxnSp>
      <p:cxnSp>
        <p:nvCxnSpPr>
          <p:cNvPr id="8" name="Connector 8"/>
          <p:cNvCxnSpPr/>
          <p:nvPr/>
        </p:nvCxnSpPr>
        <p:spPr>
          <a:xfrm rot="-15211">
            <a:off x="6299214" y="3702050"/>
            <a:ext cx="2870200" cy="12700"/>
          </a:xfrm>
          <a:prstGeom prst="straightConnector1">
            <a:avLst/>
          </a:prstGeom>
          <a:solidFill>
            <a:srgbClr val="DEE0E3">
              <a:alpha val="100000"/>
            </a:srgbClr>
          </a:solidFill>
          <a:ln w="25400" cap="flat" cmpd="sng">
            <a:solidFill>
              <a:srgbClr val="D4D2CA">
                <a:alpha val="100000"/>
              </a:srgbClr>
            </a:solidFill>
            <a:prstDash val="solid"/>
            <a:round/>
            <a:headEnd type="none" w="lg" len="lg"/>
            <a:tailEnd type="none" w="lg" len="lg"/>
          </a:ln>
        </p:spPr>
      </p:cxnSp>
      <p:cxnSp>
        <p:nvCxnSpPr>
          <p:cNvPr id="9" name="Connector 9"/>
          <p:cNvCxnSpPr/>
          <p:nvPr/>
        </p:nvCxnSpPr>
        <p:spPr>
          <a:xfrm rot="-63654">
            <a:off x="9728259" y="3702050"/>
            <a:ext cx="685800" cy="12700"/>
          </a:xfrm>
          <a:prstGeom prst="straightConnector1">
            <a:avLst/>
          </a:prstGeom>
          <a:solidFill>
            <a:srgbClr val="DEE0E3">
              <a:alpha val="100000"/>
            </a:srgbClr>
          </a:solidFill>
          <a:ln w="25400" cap="flat" cmpd="sng">
            <a:solidFill>
              <a:srgbClr val="D4D2CA">
                <a:alpha val="100000"/>
              </a:srgbClr>
            </a:solidFill>
            <a:prstDash val="solid"/>
            <a:round/>
            <a:headEnd type="none" w="lg" len="lg"/>
            <a:tailEnd type="none" w="lg" len="lg"/>
          </a:ln>
        </p:spPr>
      </p:cxnSp>
      <p:sp>
        <p:nvSpPr>
          <p:cNvPr id="10" name="AutoShape 10"/>
          <p:cNvSpPr/>
          <p:nvPr/>
        </p:nvSpPr>
        <p:spPr>
          <a:xfrm>
            <a:off x="2667000" y="3581400"/>
            <a:ext cx="254000" cy="254000"/>
          </a:xfrm>
          <a:prstGeom prst="ellipse">
            <a:avLst/>
          </a:prstGeom>
          <a:solidFill>
            <a:srgbClr val="1B4D3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txBox="1"/>
          <p:nvPr/>
        </p:nvSpPr>
        <p:spPr>
          <a:xfrm>
            <a:off x="1778000" y="2286000"/>
            <a:ext cx="2032000" cy="609600"/>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3600" b="1" i="0" u="none" strike="noStrike">
                <a:solidFill>
                  <a:srgbClr val="1B4D3E"/>
                </a:solidFill>
                <a:latin typeface="Playfair Display"/>
                <a:ea typeface="Playfair Display"/>
                <a:cs typeface="Playfair Display"/>
                <a:sym typeface="Playfair Display"/>
              </a:rPr>
              <a:t>2030</a:t>
            </a:r>
            <a:endParaRPr lang="en-US" sz="1100"/>
          </a:p>
        </p:txBody>
      </p:sp>
      <p:sp>
        <p:nvSpPr>
          <p:cNvPr id="12" name="AutoShape 12"/>
          <p:cNvSpPr txBox="1"/>
          <p:nvPr/>
        </p:nvSpPr>
        <p:spPr>
          <a:xfrm>
            <a:off x="1524000" y="4089400"/>
            <a:ext cx="2540000" cy="1651000"/>
          </a:xfrm>
          <a:prstGeom prst="rect">
            <a:avLst/>
          </a:prstGeom>
          <a:noFill/>
          <a:ln w="12700" cap="flat" cmpd="sng">
            <a:noFill/>
            <a:prstDash val="solid"/>
            <a:round/>
          </a:ln>
        </p:spPr>
        <p:txBody>
          <a:bodyPr vert="horz" wrap="square" lIns="0" tIns="0" rIns="0" bIns="0" rtlCol="0" anchor="ctr" anchorCtr="0"/>
          <a:lstStyle/>
          <a:p>
            <a:pPr marL="0" indent="0" algn="ctr">
              <a:lnSpc>
                <a:spcPct val="133000"/>
              </a:lnSpc>
              <a:defRPr/>
            </a:pPr>
            <a:r>
              <a:rPr lang="en-US" sz="1200" b="1" i="0" u="none" strike="noStrike">
                <a:solidFill>
                  <a:srgbClr val="1A1F1B"/>
                </a:solidFill>
                <a:latin typeface="Inter"/>
                <a:ea typeface="Inter"/>
                <a:cs typeface="Inter"/>
                <a:sym typeface="Inter"/>
              </a:rPr>
              <a:t>Tăng tốc gấp bốn</a:t>
            </a:r>
            <a:endParaRPr lang="en-US" sz="1100"/>
          </a:p>
          <a:p>
            <a:pPr marL="0" indent="0" algn="ctr">
              <a:lnSpc>
                <a:spcPct val="133000"/>
              </a:lnSpc>
            </a:pPr>
            <a:r>
              <a:rPr lang="en-US" sz="1200" b="0" i="0" u="none" strike="noStrike">
                <a:solidFill>
                  <a:srgbClr val="4A524A"/>
                </a:solidFill>
                <a:latin typeface="Inter"/>
                <a:ea typeface="Inter"/>
                <a:cs typeface="Inter"/>
                <a:sym typeface="Inter"/>
              </a:rPr>
              <a:t>630 GW mặt trời + 390 GW gió mỗi năm</a:t>
            </a:r>
            <a:endParaRPr lang="en-US" sz="1200" b="0" i="0" u="none" strike="noStrike">
              <a:solidFill>
                <a:srgbClr val="4A524A"/>
              </a:solidFill>
              <a:latin typeface="Inter"/>
              <a:ea typeface="Inter"/>
              <a:cs typeface="Inter"/>
              <a:sym typeface="Inter"/>
            </a:endParaRPr>
          </a:p>
          <a:p>
            <a:pPr marL="0" indent="0" algn="ctr">
              <a:lnSpc>
                <a:spcPct val="133000"/>
              </a:lnSpc>
            </a:pPr>
            <a:r>
              <a:rPr lang="en-US" sz="1200" b="0" i="0" u="none" strike="noStrike">
                <a:solidFill>
                  <a:srgbClr val="4A524A"/>
                </a:solidFill>
                <a:latin typeface="Inter"/>
                <a:ea typeface="Inter"/>
                <a:cs typeface="Inter"/>
                <a:sym typeface="Inter"/>
              </a:rPr>
              <a:t>Tái tạo &gt;50% sản lượng điện</a:t>
            </a:r>
            <a:endParaRPr lang="en-US" sz="1200" b="0" i="0" u="none" strike="noStrike">
              <a:solidFill>
                <a:srgbClr val="4A524A"/>
              </a:solidFill>
              <a:latin typeface="Inter"/>
              <a:ea typeface="Inter"/>
              <a:cs typeface="Inter"/>
              <a:sym typeface="Inter"/>
            </a:endParaRPr>
          </a:p>
        </p:txBody>
      </p:sp>
      <p:sp>
        <p:nvSpPr>
          <p:cNvPr id="13" name="AutoShape 13"/>
          <p:cNvSpPr/>
          <p:nvPr/>
        </p:nvSpPr>
        <p:spPr>
          <a:xfrm>
            <a:off x="5969000" y="3581400"/>
            <a:ext cx="254000" cy="254000"/>
          </a:xfrm>
          <a:prstGeom prst="ellipse">
            <a:avLst/>
          </a:prstGeom>
          <a:solidFill>
            <a:srgbClr val="1E5F8A">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txBox="1"/>
          <p:nvPr/>
        </p:nvSpPr>
        <p:spPr>
          <a:xfrm>
            <a:off x="5080000" y="2286000"/>
            <a:ext cx="2032000" cy="609600"/>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3600" b="1" i="0" u="none" strike="noStrike">
                <a:solidFill>
                  <a:srgbClr val="1E5F8A"/>
                </a:solidFill>
                <a:latin typeface="Playfair Display"/>
                <a:ea typeface="Playfair Display"/>
                <a:cs typeface="Playfair Display"/>
                <a:sym typeface="Playfair Display"/>
              </a:rPr>
              <a:t>2040</a:t>
            </a:r>
            <a:endParaRPr lang="en-US" sz="1100"/>
          </a:p>
        </p:txBody>
      </p:sp>
      <p:sp>
        <p:nvSpPr>
          <p:cNvPr id="15" name="AutoShape 15"/>
          <p:cNvSpPr txBox="1"/>
          <p:nvPr/>
        </p:nvSpPr>
        <p:spPr>
          <a:xfrm>
            <a:off x="4826000" y="4089400"/>
            <a:ext cx="2540000" cy="1651000"/>
          </a:xfrm>
          <a:prstGeom prst="rect">
            <a:avLst/>
          </a:prstGeom>
          <a:noFill/>
          <a:ln w="12700" cap="flat" cmpd="sng">
            <a:noFill/>
            <a:prstDash val="solid"/>
            <a:round/>
          </a:ln>
        </p:spPr>
        <p:txBody>
          <a:bodyPr vert="horz" wrap="square" lIns="0" tIns="0" rIns="0" bIns="0" rtlCol="0" anchor="ctr" anchorCtr="0"/>
          <a:lstStyle/>
          <a:p>
            <a:pPr marL="0" indent="0" algn="ctr">
              <a:lnSpc>
                <a:spcPct val="133000"/>
              </a:lnSpc>
              <a:defRPr/>
            </a:pPr>
            <a:r>
              <a:rPr lang="en-US" sz="1200" b="1" i="0" u="none" strike="noStrike">
                <a:solidFill>
                  <a:srgbClr val="1A1F1B"/>
                </a:solidFill>
                <a:latin typeface="Inter"/>
                <a:ea typeface="Inter"/>
                <a:cs typeface="Inter"/>
                <a:sym typeface="Inter"/>
              </a:rPr>
              <a:t>Hệ thống tái cấu trúc</a:t>
            </a:r>
            <a:endParaRPr lang="en-US" sz="1100"/>
          </a:p>
          <a:p>
            <a:pPr marL="0" indent="0" algn="ctr">
              <a:lnSpc>
                <a:spcPct val="133000"/>
              </a:lnSpc>
            </a:pPr>
            <a:r>
              <a:rPr lang="en-US" sz="1200" b="0" i="0" u="none" strike="noStrike">
                <a:solidFill>
                  <a:srgbClr val="4A524A"/>
                </a:solidFill>
                <a:latin typeface="Inter"/>
                <a:ea typeface="Inter"/>
                <a:cs typeface="Inter"/>
                <a:sym typeface="Inter"/>
              </a:rPr>
              <a:t>Than loại bỏ dần trên toàn cầu</a:t>
            </a:r>
            <a:endParaRPr lang="en-US" sz="1200" b="0" i="0" u="none" strike="noStrike">
              <a:solidFill>
                <a:srgbClr val="4A524A"/>
              </a:solidFill>
              <a:latin typeface="Inter"/>
              <a:ea typeface="Inter"/>
              <a:cs typeface="Inter"/>
              <a:sym typeface="Inter"/>
            </a:endParaRPr>
          </a:p>
          <a:p>
            <a:pPr marL="0" indent="0" algn="ctr">
              <a:lnSpc>
                <a:spcPct val="133000"/>
              </a:lnSpc>
            </a:pPr>
            <a:r>
              <a:rPr lang="en-US" sz="1200" b="0" i="0" u="none" strike="noStrike">
                <a:solidFill>
                  <a:srgbClr val="4A524A"/>
                </a:solidFill>
                <a:latin typeface="Inter"/>
                <a:ea typeface="Inter"/>
                <a:cs typeface="Inter"/>
                <a:sym typeface="Inter"/>
              </a:rPr>
              <a:t>Lưu trữ &amp; lưới thông minh bao phủ</a:t>
            </a:r>
            <a:endParaRPr lang="en-US" sz="1200" b="0" i="0" u="none" strike="noStrike">
              <a:solidFill>
                <a:srgbClr val="4A524A"/>
              </a:solidFill>
              <a:latin typeface="Inter"/>
              <a:ea typeface="Inter"/>
              <a:cs typeface="Inter"/>
              <a:sym typeface="Inter"/>
            </a:endParaRPr>
          </a:p>
        </p:txBody>
      </p:sp>
      <p:sp>
        <p:nvSpPr>
          <p:cNvPr id="16" name="AutoShape 16"/>
          <p:cNvSpPr/>
          <p:nvPr/>
        </p:nvSpPr>
        <p:spPr>
          <a:xfrm>
            <a:off x="9245600" y="3505200"/>
            <a:ext cx="406400" cy="406400"/>
          </a:xfrm>
          <a:prstGeom prst="ellipse">
            <a:avLst/>
          </a:prstGeom>
          <a:solidFill>
            <a:srgbClr val="C17B3A">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txBox="1"/>
          <p:nvPr/>
        </p:nvSpPr>
        <p:spPr>
          <a:xfrm>
            <a:off x="8382000" y="2286000"/>
            <a:ext cx="2159000" cy="609600"/>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3600" b="1" i="0" u="none" strike="noStrike">
                <a:solidFill>
                  <a:srgbClr val="C17B3A"/>
                </a:solidFill>
                <a:latin typeface="Playfair Display"/>
                <a:ea typeface="Playfair Display"/>
                <a:cs typeface="Playfair Display"/>
                <a:sym typeface="Playfair Display"/>
              </a:rPr>
              <a:t>2050</a:t>
            </a:r>
            <a:endParaRPr lang="en-US" sz="1100"/>
          </a:p>
        </p:txBody>
      </p:sp>
      <p:sp>
        <p:nvSpPr>
          <p:cNvPr id="18" name="AutoShape 18"/>
          <p:cNvSpPr txBox="1"/>
          <p:nvPr/>
        </p:nvSpPr>
        <p:spPr>
          <a:xfrm>
            <a:off x="8128000" y="4089400"/>
            <a:ext cx="2667000" cy="1778000"/>
          </a:xfrm>
          <a:prstGeom prst="rect">
            <a:avLst/>
          </a:prstGeom>
          <a:noFill/>
          <a:ln w="12700" cap="flat" cmpd="sng">
            <a:noFill/>
            <a:prstDash val="solid"/>
            <a:round/>
          </a:ln>
        </p:spPr>
        <p:txBody>
          <a:bodyPr vert="horz" wrap="square" lIns="0" tIns="0" rIns="0" bIns="0" rtlCol="0" anchor="ctr" anchorCtr="0"/>
          <a:lstStyle/>
          <a:p>
            <a:pPr marL="0" indent="0" algn="ctr">
              <a:lnSpc>
                <a:spcPct val="133000"/>
              </a:lnSpc>
              <a:defRPr/>
            </a:pPr>
            <a:r>
              <a:rPr lang="en-US" sz="1200" b="1" i="0" u="none" strike="noStrike">
                <a:solidFill>
                  <a:srgbClr val="1A1F1B"/>
                </a:solidFill>
                <a:latin typeface="Inter"/>
                <a:ea typeface="Inter"/>
                <a:cs typeface="Inter"/>
                <a:sym typeface="Inter"/>
              </a:rPr>
              <a:t>Net Zero toàn cầu</a:t>
            </a:r>
            <a:endParaRPr lang="en-US" sz="1100"/>
          </a:p>
          <a:p>
            <a:pPr marL="0" indent="0" algn="ctr">
              <a:lnSpc>
                <a:spcPct val="133000"/>
              </a:lnSpc>
            </a:pPr>
            <a:r>
              <a:rPr lang="en-US" sz="1200" b="0" i="0" u="none" strike="noStrike">
                <a:solidFill>
                  <a:srgbClr val="4A524A"/>
                </a:solidFill>
                <a:latin typeface="Inter"/>
                <a:ea typeface="Inter"/>
                <a:cs typeface="Inter"/>
                <a:sym typeface="Inter"/>
              </a:rPr>
              <a:t>~90% điện từ tái tạo</a:t>
            </a:r>
            <a:endParaRPr lang="en-US" sz="1200" b="0" i="0" u="none" strike="noStrike">
              <a:solidFill>
                <a:srgbClr val="4A524A"/>
              </a:solidFill>
              <a:latin typeface="Inter"/>
              <a:ea typeface="Inter"/>
              <a:cs typeface="Inter"/>
              <a:sym typeface="Inter"/>
            </a:endParaRPr>
          </a:p>
          <a:p>
            <a:pPr marL="0" indent="0" algn="ctr">
              <a:lnSpc>
                <a:spcPct val="133000"/>
              </a:lnSpc>
            </a:pPr>
            <a:r>
              <a:rPr lang="en-US" sz="1200" b="0" i="0" u="none" strike="noStrike">
                <a:solidFill>
                  <a:srgbClr val="4A524A"/>
                </a:solidFill>
                <a:latin typeface="Inter"/>
                <a:ea typeface="Inter"/>
                <a:cs typeface="Inter"/>
                <a:sym typeface="Inter"/>
              </a:rPr>
              <a:t>Gió + Mặt trời chiếm ~70%</a:t>
            </a:r>
            <a:endParaRPr lang="en-US" sz="1200" b="0" i="0" u="none" strike="noStrike">
              <a:solidFill>
                <a:srgbClr val="4A524A"/>
              </a:solidFill>
              <a:latin typeface="Inter"/>
              <a:ea typeface="Inter"/>
              <a:cs typeface="Inter"/>
              <a:sym typeface="Inter"/>
            </a:endParaRPr>
          </a:p>
          <a:p>
            <a:pPr marL="0" indent="0" algn="ctr">
              <a:lnSpc>
                <a:spcPct val="133000"/>
              </a:lnSpc>
            </a:pPr>
            <a:r>
              <a:rPr lang="en-US" sz="1200" b="0" i="0" u="none" strike="noStrike">
                <a:solidFill>
                  <a:srgbClr val="4A524A"/>
                </a:solidFill>
                <a:latin typeface="Inter"/>
                <a:ea typeface="Inter"/>
                <a:cs typeface="Inter"/>
                <a:sym typeface="Inter"/>
              </a:rPr>
              <a:t>Hydrogen xử lý phần còn lại</a:t>
            </a:r>
            <a:endParaRPr lang="en-US" sz="1200" b="0" i="0" u="none" strike="noStrike">
              <a:solidFill>
                <a:srgbClr val="4A524A"/>
              </a:solidFill>
              <a:latin typeface="Inter"/>
              <a:ea typeface="Inter"/>
              <a:cs typeface="Inter"/>
              <a:sym typeface="Inter"/>
            </a:endParaRPr>
          </a:p>
        </p:txBody>
      </p:sp>
      <p:sp>
        <p:nvSpPr>
          <p:cNvPr id="19" name="AutoShape 19"/>
          <p:cNvSpPr txBox="1"/>
          <p:nvPr/>
        </p:nvSpPr>
        <p:spPr>
          <a:xfrm>
            <a:off x="812800" y="6451600"/>
            <a:ext cx="7620000" cy="2032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900" b="0" i="0" u="none" strike="noStrike">
                <a:solidFill>
                  <a:srgbClr val="8C8A82"/>
                </a:solidFill>
                <a:latin typeface="Inter"/>
                <a:ea typeface="Inter"/>
                <a:cs typeface="Inter"/>
                <a:sym typeface="Inter"/>
              </a:rPr>
              <a:t>Nguồn: IEA Net Zero by 2050 — A Roadmap for the Global Energy Sector</a:t>
            </a:r>
            <a:endParaRPr lang="en-US" sz="1100"/>
          </a:p>
        </p:txBody>
      </p:sp>
      <p:sp>
        <p:nvSpPr>
          <p:cNvPr id="20" name="AutoShape 20"/>
          <p:cNvSpPr txBox="1"/>
          <p:nvPr/>
        </p:nvSpPr>
        <p:spPr>
          <a:xfrm>
            <a:off x="10668000" y="6451600"/>
            <a:ext cx="711200" cy="203200"/>
          </a:xfrm>
          <a:prstGeom prst="rect">
            <a:avLst/>
          </a:prstGeom>
          <a:noFill/>
          <a:ln w="12700" cap="flat" cmpd="sng">
            <a:noFill/>
            <a:prstDash val="solid"/>
            <a:round/>
          </a:ln>
        </p:spPr>
        <p:txBody>
          <a:bodyPr vert="horz" wrap="none" lIns="0" tIns="0" rIns="0" bIns="0" rtlCol="0" anchor="ctr" anchorCtr="0"/>
          <a:lstStyle/>
          <a:p>
            <a:pPr marL="0" indent="0" algn="r">
              <a:lnSpc>
                <a:spcPct val="125000"/>
              </a:lnSpc>
              <a:defRPr/>
            </a:pPr>
            <a:r>
              <a:rPr lang="en-US" sz="900" b="0" i="0" u="none" strike="noStrike">
                <a:solidFill>
                  <a:srgbClr val="8C8A82"/>
                </a:solidFill>
                <a:latin typeface="Inter"/>
                <a:ea typeface="Inter"/>
                <a:cs typeface="Inter"/>
                <a:sym typeface="Inter"/>
              </a:rPr>
              <a:t>10 / 12</a:t>
            </a:r>
            <a:endParaRPr lang="en-US" sz="110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9F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12800" y="584200"/>
            <a:ext cx="406400" cy="38100"/>
          </a:xfrm>
          <a:prstGeom prst="roundRect">
            <a:avLst>
              <a:gd name="adj" fmla="val 0"/>
            </a:avLst>
          </a:prstGeom>
          <a:solidFill>
            <a:srgbClr val="1B4D3E">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txBox="1"/>
          <p:nvPr/>
        </p:nvSpPr>
        <p:spPr>
          <a:xfrm>
            <a:off x="1320800" y="508000"/>
            <a:ext cx="6350000" cy="2286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000" b="0" i="0" u="none" strike="noStrike">
                <a:solidFill>
                  <a:srgbClr val="1B4D3E"/>
                </a:solidFill>
                <a:latin typeface="Montserrat"/>
                <a:ea typeface="Montserrat"/>
                <a:cs typeface="Montserrat"/>
                <a:sym typeface="Montserrat"/>
              </a:rPr>
              <a:t>05 · HÀNH ĐỘNG</a:t>
            </a:r>
            <a:endParaRPr lang="en-US" sz="1100"/>
          </a:p>
        </p:txBody>
      </p:sp>
      <p:sp>
        <p:nvSpPr>
          <p:cNvPr id="4" name="AutoShape 4"/>
          <p:cNvSpPr txBox="1"/>
          <p:nvPr/>
        </p:nvSpPr>
        <p:spPr>
          <a:xfrm>
            <a:off x="812800" y="863600"/>
            <a:ext cx="10566400" cy="5588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800" b="1" i="0" u="none" strike="noStrike">
                <a:solidFill>
                  <a:srgbClr val="1A1F1B"/>
                </a:solidFill>
                <a:latin typeface="Playfair Display"/>
                <a:ea typeface="Playfair Display"/>
                <a:cs typeface="Playfair Display"/>
                <a:sym typeface="Playfair Display"/>
              </a:rPr>
              <a:t>Mỗi bên đều có việc làm ngay hôm nay</a:t>
            </a:r>
            <a:endParaRPr lang="en-US" sz="1100"/>
          </a:p>
        </p:txBody>
      </p:sp>
      <p:cxnSp>
        <p:nvCxnSpPr>
          <p:cNvPr id="5" name="Connector 5"/>
          <p:cNvCxnSpPr/>
          <p:nvPr/>
        </p:nvCxnSpPr>
        <p:spPr>
          <a:xfrm rot="-4131">
            <a:off x="812804" y="1619250"/>
            <a:ext cx="10566400" cy="12700"/>
          </a:xfrm>
          <a:prstGeom prst="straightConnector1">
            <a:avLst/>
          </a:prstGeom>
          <a:solidFill>
            <a:srgbClr val="DEE0E3">
              <a:alpha val="100000"/>
            </a:srgbClr>
          </a:solidFill>
          <a:ln w="12700" cap="flat" cmpd="sng">
            <a:solidFill>
              <a:srgbClr val="E0DED6">
                <a:alpha val="100000"/>
              </a:srgbClr>
            </a:solidFill>
            <a:prstDash val="solid"/>
            <a:round/>
            <a:headEnd type="none" w="med" len="med"/>
            <a:tailEnd type="none" w="med" len="med"/>
          </a:ln>
        </p:spPr>
      </p:cxnSp>
      <p:cxnSp>
        <p:nvCxnSpPr>
          <p:cNvPr id="6" name="Connector 6"/>
          <p:cNvCxnSpPr/>
          <p:nvPr/>
        </p:nvCxnSpPr>
        <p:spPr>
          <a:xfrm rot="5384373">
            <a:off x="2971800" y="3422664"/>
            <a:ext cx="2794000" cy="12700"/>
          </a:xfrm>
          <a:prstGeom prst="straightConnector1">
            <a:avLst/>
          </a:prstGeom>
          <a:solidFill>
            <a:srgbClr val="DEE0E3">
              <a:alpha val="100000"/>
            </a:srgbClr>
          </a:solidFill>
          <a:ln w="12700" cap="flat" cmpd="sng">
            <a:solidFill>
              <a:srgbClr val="E4E2DA">
                <a:alpha val="100000"/>
              </a:srgbClr>
            </a:solidFill>
            <a:prstDash val="solid"/>
            <a:round/>
            <a:headEnd type="none" w="med" len="med"/>
            <a:tailEnd type="none" w="med" len="med"/>
          </a:ln>
        </p:spPr>
      </p:cxnSp>
      <p:cxnSp>
        <p:nvCxnSpPr>
          <p:cNvPr id="7" name="Connector 7"/>
          <p:cNvCxnSpPr/>
          <p:nvPr/>
        </p:nvCxnSpPr>
        <p:spPr>
          <a:xfrm rot="5384373">
            <a:off x="6680200" y="3422664"/>
            <a:ext cx="2794000" cy="12700"/>
          </a:xfrm>
          <a:prstGeom prst="straightConnector1">
            <a:avLst/>
          </a:prstGeom>
          <a:solidFill>
            <a:srgbClr val="DEE0E3">
              <a:alpha val="100000"/>
            </a:srgbClr>
          </a:solidFill>
          <a:ln w="12700" cap="flat" cmpd="sng">
            <a:solidFill>
              <a:srgbClr val="E4E2DA">
                <a:alpha val="100000"/>
              </a:srgbClr>
            </a:solidFill>
            <a:prstDash val="solid"/>
            <a:round/>
            <a:headEnd type="none" w="med" len="med"/>
            <a:tailEnd type="none" w="med" len="med"/>
          </a:ln>
        </p:spPr>
      </p:cxnSp>
      <p:sp>
        <p:nvSpPr>
          <p:cNvPr id="8" name="AutoShape 8"/>
          <p:cNvSpPr txBox="1"/>
          <p:nvPr/>
        </p:nvSpPr>
        <p:spPr>
          <a:xfrm>
            <a:off x="1016000" y="2159000"/>
            <a:ext cx="762000" cy="7112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4000" b="1" i="0" u="none" strike="noStrike">
                <a:solidFill>
                  <a:srgbClr val="1B4D3E"/>
                </a:solidFill>
                <a:latin typeface="Playfair Display"/>
                <a:ea typeface="Playfair Display"/>
                <a:cs typeface="Playfair Display"/>
                <a:sym typeface="Playfair Display"/>
              </a:rPr>
              <a:t>01</a:t>
            </a:r>
            <a:endParaRPr lang="en-US" sz="1100"/>
          </a:p>
        </p:txBody>
      </p:sp>
      <p:sp>
        <p:nvSpPr>
          <p:cNvPr id="9" name="AutoShape 9"/>
          <p:cNvSpPr txBox="1"/>
          <p:nvPr/>
        </p:nvSpPr>
        <p:spPr>
          <a:xfrm>
            <a:off x="1016000" y="3022600"/>
            <a:ext cx="2921000" cy="381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800" b="1" i="0" u="none" strike="noStrike">
                <a:solidFill>
                  <a:srgbClr val="1A1F1B"/>
                </a:solidFill>
                <a:latin typeface="Inter"/>
                <a:ea typeface="Inter"/>
                <a:cs typeface="Inter"/>
                <a:sym typeface="Inter"/>
              </a:rPr>
              <a:t>Chính sách</a:t>
            </a:r>
            <a:endParaRPr lang="en-US" sz="1100"/>
          </a:p>
        </p:txBody>
      </p:sp>
      <p:cxnSp>
        <p:nvCxnSpPr>
          <p:cNvPr id="10" name="Connector 10"/>
          <p:cNvCxnSpPr/>
          <p:nvPr/>
        </p:nvCxnSpPr>
        <p:spPr>
          <a:xfrm rot="-68745">
            <a:off x="1016063" y="3498850"/>
            <a:ext cx="635000" cy="12700"/>
          </a:xfrm>
          <a:prstGeom prst="straightConnector1">
            <a:avLst/>
          </a:prstGeom>
          <a:solidFill>
            <a:srgbClr val="DEE0E3">
              <a:alpha val="100000"/>
            </a:srgbClr>
          </a:solidFill>
          <a:ln w="25400" cap="flat" cmpd="sng">
            <a:solidFill>
              <a:srgbClr val="C17B3A">
                <a:alpha val="100000"/>
              </a:srgbClr>
            </a:solidFill>
            <a:prstDash val="solid"/>
            <a:round/>
            <a:headEnd type="none" w="lg" len="lg"/>
            <a:tailEnd type="none" w="lg" len="lg"/>
          </a:ln>
        </p:spPr>
      </p:cxnSp>
      <p:sp>
        <p:nvSpPr>
          <p:cNvPr id="11" name="AutoShape 11"/>
          <p:cNvSpPr txBox="1"/>
          <p:nvPr/>
        </p:nvSpPr>
        <p:spPr>
          <a:xfrm>
            <a:off x="1016000" y="3708400"/>
            <a:ext cx="2921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300" b="0" i="0" u="none" strike="noStrike">
                <a:solidFill>
                  <a:srgbClr val="4A524A"/>
                </a:solidFill>
                <a:latin typeface="Inter"/>
                <a:ea typeface="Inter"/>
                <a:cs typeface="Inter"/>
                <a:sym typeface="Inter"/>
              </a:rPr>
              <a:t>— Đặt giá carbon, bỏ trợ cấp hóa thạch</a:t>
            </a:r>
            <a:endParaRPr lang="en-US" sz="1100"/>
          </a:p>
          <a:p>
            <a:pPr marL="0" indent="0" algn="l">
              <a:lnSpc>
                <a:spcPct val="142000"/>
              </a:lnSpc>
            </a:pPr>
            <a:r>
              <a:rPr lang="en-US" sz="1300" b="0" i="0" u="none" strike="noStrike">
                <a:solidFill>
                  <a:srgbClr val="4A524A"/>
                </a:solidFill>
                <a:latin typeface="Inter"/>
                <a:ea typeface="Inter"/>
                <a:cs typeface="Inter"/>
                <a:sym typeface="Inter"/>
              </a:rPr>
              <a:t>— Quy hoạch lưới &amp; chấp thuận nhanh</a:t>
            </a:r>
            <a:endParaRPr lang="en-US" sz="1300" b="0" i="0" u="none" strike="noStrike">
              <a:solidFill>
                <a:srgbClr val="4A524A"/>
              </a:solidFill>
              <a:latin typeface="Inter"/>
              <a:ea typeface="Inter"/>
              <a:cs typeface="Inter"/>
              <a:sym typeface="Inter"/>
            </a:endParaRPr>
          </a:p>
        </p:txBody>
      </p:sp>
      <p:sp>
        <p:nvSpPr>
          <p:cNvPr id="12" name="AutoShape 12"/>
          <p:cNvSpPr txBox="1"/>
          <p:nvPr/>
        </p:nvSpPr>
        <p:spPr>
          <a:xfrm>
            <a:off x="4724400" y="2159000"/>
            <a:ext cx="762000" cy="7112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4000" b="1" i="0" u="none" strike="noStrike">
                <a:solidFill>
                  <a:srgbClr val="1E5F8A"/>
                </a:solidFill>
                <a:latin typeface="Playfair Display"/>
                <a:ea typeface="Playfair Display"/>
                <a:cs typeface="Playfair Display"/>
                <a:sym typeface="Playfair Display"/>
              </a:rPr>
              <a:t>02</a:t>
            </a:r>
            <a:endParaRPr lang="en-US" sz="1100"/>
          </a:p>
        </p:txBody>
      </p:sp>
      <p:sp>
        <p:nvSpPr>
          <p:cNvPr id="13" name="AutoShape 13"/>
          <p:cNvSpPr txBox="1"/>
          <p:nvPr/>
        </p:nvSpPr>
        <p:spPr>
          <a:xfrm>
            <a:off x="4724400" y="3022600"/>
            <a:ext cx="2921000" cy="381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800" b="1" i="0" u="none" strike="noStrike">
                <a:solidFill>
                  <a:srgbClr val="1A1F1B"/>
                </a:solidFill>
                <a:latin typeface="Inter"/>
                <a:ea typeface="Inter"/>
                <a:cs typeface="Inter"/>
                <a:sym typeface="Inter"/>
              </a:rPr>
              <a:t>Doanh nghiệp</a:t>
            </a:r>
            <a:endParaRPr lang="en-US" sz="1100"/>
          </a:p>
        </p:txBody>
      </p:sp>
      <p:cxnSp>
        <p:nvCxnSpPr>
          <p:cNvPr id="14" name="Connector 14"/>
          <p:cNvCxnSpPr/>
          <p:nvPr/>
        </p:nvCxnSpPr>
        <p:spPr>
          <a:xfrm rot="-68745">
            <a:off x="4724463" y="3498850"/>
            <a:ext cx="635000" cy="12700"/>
          </a:xfrm>
          <a:prstGeom prst="straightConnector1">
            <a:avLst/>
          </a:prstGeom>
          <a:solidFill>
            <a:srgbClr val="DEE0E3">
              <a:alpha val="100000"/>
            </a:srgbClr>
          </a:solidFill>
          <a:ln w="25400" cap="flat" cmpd="sng">
            <a:solidFill>
              <a:srgbClr val="C17B3A">
                <a:alpha val="100000"/>
              </a:srgbClr>
            </a:solidFill>
            <a:prstDash val="solid"/>
            <a:round/>
            <a:headEnd type="none" w="lg" len="lg"/>
            <a:tailEnd type="none" w="lg" len="lg"/>
          </a:ln>
        </p:spPr>
      </p:cxnSp>
      <p:sp>
        <p:nvSpPr>
          <p:cNvPr id="15" name="AutoShape 15"/>
          <p:cNvSpPr txBox="1"/>
          <p:nvPr/>
        </p:nvSpPr>
        <p:spPr>
          <a:xfrm>
            <a:off x="4724400" y="3708400"/>
            <a:ext cx="2921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300" b="0" i="0" u="none" strike="noStrike">
                <a:solidFill>
                  <a:srgbClr val="4A524A"/>
                </a:solidFill>
                <a:latin typeface="Inter"/>
                <a:ea typeface="Inter"/>
                <a:cs typeface="Inter"/>
                <a:sym typeface="Inter"/>
              </a:rPr>
              <a:t>— Mua điện tái tạo (PPA), cam kết 100%</a:t>
            </a:r>
            <a:endParaRPr lang="en-US" sz="1100"/>
          </a:p>
          <a:p>
            <a:pPr marL="0" indent="0" algn="l">
              <a:lnSpc>
                <a:spcPct val="142000"/>
              </a:lnSpc>
            </a:pPr>
            <a:r>
              <a:rPr lang="en-US" sz="1300" b="0" i="0" u="none" strike="noStrike">
                <a:solidFill>
                  <a:srgbClr val="4A524A"/>
                </a:solidFill>
                <a:latin typeface="Inter"/>
                <a:ea typeface="Inter"/>
                <a:cs typeface="Inter"/>
                <a:sym typeface="Inter"/>
              </a:rPr>
              <a:t>— Đầu tư hiệu quả năng lượng &amp; hydrogen</a:t>
            </a:r>
            <a:endParaRPr lang="en-US" sz="1300" b="0" i="0" u="none" strike="noStrike">
              <a:solidFill>
                <a:srgbClr val="4A524A"/>
              </a:solidFill>
              <a:latin typeface="Inter"/>
              <a:ea typeface="Inter"/>
              <a:cs typeface="Inter"/>
              <a:sym typeface="Inter"/>
            </a:endParaRPr>
          </a:p>
        </p:txBody>
      </p:sp>
      <p:sp>
        <p:nvSpPr>
          <p:cNvPr id="16" name="AutoShape 16"/>
          <p:cNvSpPr txBox="1"/>
          <p:nvPr/>
        </p:nvSpPr>
        <p:spPr>
          <a:xfrm>
            <a:off x="8432800" y="2159000"/>
            <a:ext cx="762000" cy="7112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4000" b="1" i="0" u="none" strike="noStrike">
                <a:solidFill>
                  <a:srgbClr val="C17B3A"/>
                </a:solidFill>
                <a:latin typeface="Playfair Display"/>
                <a:ea typeface="Playfair Display"/>
                <a:cs typeface="Playfair Display"/>
                <a:sym typeface="Playfair Display"/>
              </a:rPr>
              <a:t>03</a:t>
            </a:r>
            <a:endParaRPr lang="en-US" sz="1100"/>
          </a:p>
        </p:txBody>
      </p:sp>
      <p:sp>
        <p:nvSpPr>
          <p:cNvPr id="17" name="AutoShape 17"/>
          <p:cNvSpPr txBox="1"/>
          <p:nvPr/>
        </p:nvSpPr>
        <p:spPr>
          <a:xfrm>
            <a:off x="8432800" y="3022600"/>
            <a:ext cx="2921000" cy="381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800" b="1" i="0" u="none" strike="noStrike">
                <a:solidFill>
                  <a:srgbClr val="1A1F1B"/>
                </a:solidFill>
                <a:latin typeface="Inter"/>
                <a:ea typeface="Inter"/>
                <a:cs typeface="Inter"/>
                <a:sym typeface="Inter"/>
              </a:rPr>
              <a:t>Cá nhân</a:t>
            </a:r>
            <a:endParaRPr lang="en-US" sz="1100"/>
          </a:p>
        </p:txBody>
      </p:sp>
      <p:cxnSp>
        <p:nvCxnSpPr>
          <p:cNvPr id="18" name="Connector 18"/>
          <p:cNvCxnSpPr/>
          <p:nvPr/>
        </p:nvCxnSpPr>
        <p:spPr>
          <a:xfrm rot="-68745">
            <a:off x="8432863" y="3498850"/>
            <a:ext cx="635000" cy="12700"/>
          </a:xfrm>
          <a:prstGeom prst="straightConnector1">
            <a:avLst/>
          </a:prstGeom>
          <a:solidFill>
            <a:srgbClr val="DEE0E3">
              <a:alpha val="100000"/>
            </a:srgbClr>
          </a:solidFill>
          <a:ln w="25400" cap="flat" cmpd="sng">
            <a:solidFill>
              <a:srgbClr val="C17B3A">
                <a:alpha val="100000"/>
              </a:srgbClr>
            </a:solidFill>
            <a:prstDash val="solid"/>
            <a:round/>
            <a:headEnd type="none" w="lg" len="lg"/>
            <a:tailEnd type="none" w="lg" len="lg"/>
          </a:ln>
        </p:spPr>
      </p:cxnSp>
      <p:sp>
        <p:nvSpPr>
          <p:cNvPr id="19" name="AutoShape 19"/>
          <p:cNvSpPr txBox="1"/>
          <p:nvPr/>
        </p:nvSpPr>
        <p:spPr>
          <a:xfrm>
            <a:off x="8432800" y="3708400"/>
            <a:ext cx="2921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300" b="0" i="0" u="none" strike="noStrike">
                <a:solidFill>
                  <a:srgbClr val="4A524A"/>
                </a:solidFill>
                <a:latin typeface="Inter"/>
                <a:ea typeface="Inter"/>
                <a:cs typeface="Inter"/>
                <a:sym typeface="Inter"/>
              </a:rPr>
              <a:t>— Tiêu dùng thông minh, pin mặt trời mái nhà</a:t>
            </a:r>
            <a:endParaRPr lang="en-US" sz="1100"/>
          </a:p>
          <a:p>
            <a:pPr marL="0" indent="0" algn="l">
              <a:lnSpc>
                <a:spcPct val="142000"/>
              </a:lnSpc>
            </a:pPr>
            <a:r>
              <a:rPr lang="en-US" sz="1300" b="0" i="0" u="none" strike="noStrike">
                <a:solidFill>
                  <a:srgbClr val="4A524A"/>
                </a:solidFill>
                <a:latin typeface="Inter"/>
                <a:ea typeface="Inter"/>
                <a:cs typeface="Inter"/>
                <a:sym typeface="Inter"/>
              </a:rPr>
              <a:t>— Ủng hộ chính sách &amp; doanh nghiệp xanh</a:t>
            </a:r>
            <a:endParaRPr lang="en-US" sz="1300" b="0" i="0" u="none" strike="noStrike">
              <a:solidFill>
                <a:srgbClr val="4A524A"/>
              </a:solidFill>
              <a:latin typeface="Inter"/>
              <a:ea typeface="Inter"/>
              <a:cs typeface="Inter"/>
              <a:sym typeface="Inter"/>
            </a:endParaRPr>
          </a:p>
        </p:txBody>
      </p:sp>
      <p:sp>
        <p:nvSpPr>
          <p:cNvPr id="20" name="AutoShape 20"/>
          <p:cNvSpPr/>
          <p:nvPr/>
        </p:nvSpPr>
        <p:spPr>
          <a:xfrm>
            <a:off x="812800" y="5232400"/>
            <a:ext cx="10566400" cy="736600"/>
          </a:xfrm>
          <a:prstGeom prst="roundRect">
            <a:avLst>
              <a:gd name="adj" fmla="val 17241"/>
            </a:avLst>
          </a:prstGeom>
          <a:solidFill>
            <a:srgbClr val="1B4D3E">
              <a:alpha val="8000"/>
            </a:srgbClr>
          </a:solidFill>
          <a:ln w="25400" cap="flat" cmpd="sng">
            <a:noFill/>
            <a:prstDash val="solid"/>
            <a:round/>
          </a:ln>
        </p:spPr>
        <p:txBody>
          <a:bodyPr vert="horz" wrap="square" lIns="0" tIns="0" rIns="0" bIns="0" rtlCol="0" anchor="ctr" anchorCtr="0"/>
          <a:lstStyle/>
          <a:p>
            <a:pPr marL="0" indent="0" algn="ctr">
              <a:lnSpc>
                <a:spcPct val="125000"/>
              </a:lnSpc>
              <a:defRPr/>
            </a:pPr>
            <a:r>
              <a:rPr lang="en-US" sz="1900" b="1" i="0" u="none" strike="noStrike">
                <a:solidFill>
                  <a:srgbClr val="1B4D3E"/>
                </a:solidFill>
                <a:latin typeface="Playfair Display"/>
                <a:ea typeface="Playfair Display"/>
                <a:cs typeface="Playfair Display"/>
                <a:sym typeface="Playfair Display"/>
              </a:rPr>
              <a:t>Mỗi lựa chọn năng lượng hôm nay định hình tương lai 2050.</a:t>
            </a:r>
            <a:endParaRPr lang="en-US" sz="1100"/>
          </a:p>
        </p:txBody>
      </p:sp>
      <p:sp>
        <p:nvSpPr>
          <p:cNvPr id="21" name="AutoShape 21"/>
          <p:cNvSpPr txBox="1"/>
          <p:nvPr/>
        </p:nvSpPr>
        <p:spPr>
          <a:xfrm>
            <a:off x="812800" y="6451600"/>
            <a:ext cx="5080000" cy="2032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000" b="0" i="0" u="none" strike="noStrike">
                <a:solidFill>
                  <a:srgbClr val="8C8A82"/>
                </a:solidFill>
                <a:latin typeface="Inter"/>
                <a:ea typeface="Inter"/>
                <a:cs typeface="Inter"/>
                <a:sym typeface="Inter"/>
              </a:rPr>
              <a:t>Thế Huy · Cẩm Tú — Cảm ơn &amp; mời đặt câu hỏi</a:t>
            </a:r>
            <a:endParaRPr lang="en-US" sz="1100"/>
          </a:p>
        </p:txBody>
      </p:sp>
      <p:sp>
        <p:nvSpPr>
          <p:cNvPr id="22" name="AutoShape 22"/>
          <p:cNvSpPr txBox="1"/>
          <p:nvPr/>
        </p:nvSpPr>
        <p:spPr>
          <a:xfrm>
            <a:off x="10668000" y="6451600"/>
            <a:ext cx="711200" cy="203200"/>
          </a:xfrm>
          <a:prstGeom prst="rect">
            <a:avLst/>
          </a:prstGeom>
          <a:noFill/>
          <a:ln w="12700" cap="flat" cmpd="sng">
            <a:noFill/>
            <a:prstDash val="solid"/>
            <a:round/>
          </a:ln>
        </p:spPr>
        <p:txBody>
          <a:bodyPr vert="horz" wrap="none" lIns="0" tIns="0" rIns="0" bIns="0" rtlCol="0" anchor="ctr" anchorCtr="0"/>
          <a:lstStyle/>
          <a:p>
            <a:pPr marL="0" indent="0" algn="r">
              <a:lnSpc>
                <a:spcPct val="125000"/>
              </a:lnSpc>
              <a:defRPr/>
            </a:pPr>
            <a:r>
              <a:rPr lang="en-US" sz="900" b="0" i="0" u="none" strike="noStrike">
                <a:solidFill>
                  <a:srgbClr val="8C8A82"/>
                </a:solidFill>
                <a:latin typeface="Inter"/>
                <a:ea typeface="Inter"/>
                <a:cs typeface="Inter"/>
                <a:sym typeface="Inter"/>
              </a:rPr>
              <a:t>11 / 12</a:t>
            </a:r>
            <a:endParaRPr lang="en-US" sz="110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t="7812" b="7812"/>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gradFill rotWithShape="1">
            <a:gsLst>
              <a:gs pos="0">
                <a:srgbClr val="0C1610">
                  <a:alpha val="45000"/>
                </a:srgbClr>
              </a:gs>
              <a:gs pos="45000">
                <a:srgbClr val="0C1610">
                  <a:alpha val="12000"/>
                </a:srgbClr>
              </a:gs>
              <a:gs pos="100000">
                <a:srgbClr val="0A140E">
                  <a:alpha val="82000"/>
                </a:srgbClr>
              </a:gs>
            </a:gsLst>
            <a:lin ang="5400000"/>
          </a:gra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5816600" y="2184400"/>
            <a:ext cx="558800" cy="38100"/>
          </a:xfrm>
          <a:prstGeom prst="roundRect">
            <a:avLst>
              <a:gd name="adj" fmla="val 0"/>
            </a:avLst>
          </a:prstGeom>
          <a:solidFill>
            <a:srgbClr val="C17B3A">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txBox="1"/>
          <p:nvPr/>
        </p:nvSpPr>
        <p:spPr>
          <a:xfrm>
            <a:off x="812800" y="2413000"/>
            <a:ext cx="10566400" cy="304800"/>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1100" b="0" i="0" u="none" strike="noStrike">
                <a:solidFill>
                  <a:srgbClr val="FFFFFF">
                    <a:alpha val="80000"/>
                  </a:srgbClr>
                </a:solidFill>
                <a:latin typeface="Montserrat"/>
                <a:ea typeface="Montserrat"/>
                <a:cs typeface="Montserrat"/>
                <a:sym typeface="Montserrat"/>
              </a:rPr>
              <a:t>MỘT TƯƠNG LAI SÁNG SỬA ĐANG CHỜ</a:t>
            </a:r>
            <a:endParaRPr lang="en-US" sz="1100"/>
          </a:p>
        </p:txBody>
      </p:sp>
      <p:sp>
        <p:nvSpPr>
          <p:cNvPr id="6" name="AutoShape 6"/>
          <p:cNvSpPr txBox="1"/>
          <p:nvPr/>
        </p:nvSpPr>
        <p:spPr>
          <a:xfrm>
            <a:off x="812800" y="2946400"/>
            <a:ext cx="10566400" cy="812800"/>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4600" b="1" i="1" u="none" strike="noStrike">
                <a:solidFill>
                  <a:srgbClr val="FFFFFF"/>
                </a:solidFill>
                <a:latin typeface="Playfair Display"/>
                <a:ea typeface="Playfair Display"/>
                <a:cs typeface="Playfair Display"/>
                <a:sym typeface="Playfair Display"/>
              </a:rPr>
              <a:t>Tương lai bền vững</a:t>
            </a:r>
            <a:endParaRPr lang="en-US" sz="1100"/>
          </a:p>
        </p:txBody>
      </p:sp>
      <p:sp>
        <p:nvSpPr>
          <p:cNvPr id="7" name="AutoShape 7"/>
          <p:cNvSpPr txBox="1"/>
          <p:nvPr/>
        </p:nvSpPr>
        <p:spPr>
          <a:xfrm>
            <a:off x="812800" y="3835400"/>
            <a:ext cx="10566400" cy="711200"/>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4600" b="1" i="0" u="none" strike="noStrike">
                <a:solidFill>
                  <a:srgbClr val="FFFFFF"/>
                </a:solidFill>
                <a:latin typeface="Playfair Display"/>
                <a:ea typeface="Playfair Display"/>
                <a:cs typeface="Playfair Display"/>
                <a:sym typeface="Playfair Display"/>
              </a:rPr>
              <a:t>bắt đầu từ hôm nay.</a:t>
            </a:r>
            <a:endParaRPr lang="en-US" sz="1100"/>
          </a:p>
        </p:txBody>
      </p:sp>
      <p:cxnSp>
        <p:nvCxnSpPr>
          <p:cNvPr id="8" name="Connector 8"/>
          <p:cNvCxnSpPr/>
          <p:nvPr/>
        </p:nvCxnSpPr>
        <p:spPr>
          <a:xfrm rot="-34376">
            <a:off x="5461032" y="4972050"/>
            <a:ext cx="1270000" cy="12700"/>
          </a:xfrm>
          <a:prstGeom prst="straightConnector1">
            <a:avLst/>
          </a:prstGeom>
          <a:solidFill>
            <a:srgbClr val="DEE0E3">
              <a:alpha val="100000"/>
            </a:srgbClr>
          </a:solidFill>
          <a:ln w="12700" cap="flat" cmpd="sng">
            <a:solidFill>
              <a:srgbClr val="FFFFFF">
                <a:alpha val="50000"/>
              </a:srgbClr>
            </a:solidFill>
            <a:prstDash val="solid"/>
            <a:round/>
            <a:headEnd type="none" w="med" len="med"/>
            <a:tailEnd type="none" w="med" len="med"/>
          </a:ln>
        </p:spPr>
      </p:cxnSp>
      <p:sp>
        <p:nvSpPr>
          <p:cNvPr id="9" name="AutoShape 9"/>
          <p:cNvSpPr txBox="1"/>
          <p:nvPr/>
        </p:nvSpPr>
        <p:spPr>
          <a:xfrm>
            <a:off x="812800" y="5156200"/>
            <a:ext cx="10566400" cy="355600"/>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1600" b="1" i="0" u="none" strike="noStrike">
                <a:solidFill>
                  <a:srgbClr val="FFFFFF">
                    <a:alpha val="94902"/>
                  </a:srgbClr>
                </a:solidFill>
                <a:latin typeface="Inter"/>
                <a:ea typeface="Inter"/>
                <a:cs typeface="Inter"/>
                <a:sym typeface="Inter"/>
              </a:rPr>
              <a:t>Thế Huy · Cẩm Tú</a:t>
            </a:r>
            <a:endParaRPr lang="en-US" sz="1100"/>
          </a:p>
        </p:txBody>
      </p:sp>
      <p:sp>
        <p:nvSpPr>
          <p:cNvPr id="10" name="AutoShape 10"/>
          <p:cNvSpPr txBox="1"/>
          <p:nvPr/>
        </p:nvSpPr>
        <p:spPr>
          <a:xfrm>
            <a:off x="812800" y="5613400"/>
            <a:ext cx="10566400" cy="279400"/>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1200" b="0" i="0" u="none" strike="noStrike">
                <a:solidFill>
                  <a:srgbClr val="FFFFFF">
                    <a:alpha val="70196"/>
                  </a:srgbClr>
                </a:solidFill>
                <a:latin typeface="Inter"/>
                <a:ea typeface="Inter"/>
                <a:cs typeface="Inter"/>
                <a:sym typeface="Inter"/>
              </a:rPr>
              <a:t>Cảm ơn sự lắng nghe · Mời đặt câu hỏi (Q&amp;A)</a:t>
            </a:r>
            <a:endParaRPr lang="en-US" sz="110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4191</Words>
  <Application>WPS Presentation</Application>
  <PresentationFormat/>
  <Paragraphs>302</Paragraphs>
  <Slides>12</Slides>
  <Notes>0</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12</vt:i4>
      </vt:variant>
    </vt:vector>
  </HeadingPairs>
  <TitlesOfParts>
    <vt:vector size="25" baseType="lpstr">
      <vt:lpstr>Arial</vt:lpstr>
      <vt:lpstr>SimSun</vt:lpstr>
      <vt:lpstr>Wingdings</vt:lpstr>
      <vt:lpstr>Arial</vt:lpstr>
      <vt:lpstr>Montserrat</vt:lpstr>
      <vt:lpstr>Segoe Print</vt:lpstr>
      <vt:lpstr>Playfair Display</vt:lpstr>
      <vt:lpstr>Inter</vt:lpstr>
      <vt:lpstr>Anton</vt:lpstr>
      <vt:lpstr>Microsoft YaHei</vt:lpstr>
      <vt:lpstr>Arial Unicode MS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Thế huy Đoàn</cp:lastModifiedBy>
  <cp:revision>1</cp:revision>
  <dcterms:created xsi:type="dcterms:W3CDTF">2026-10-04T03:05:48Z</dcterms:created>
  <dcterms:modified xsi:type="dcterms:W3CDTF">2026-10-04T03:05:48Z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9D57C97F310A42058527DAD3010A9C38_12</vt:lpwstr>
  </property>
</Properties>
</file>